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4" r:id="rId1"/>
  </p:sldMasterIdLst>
  <p:notesMasterIdLst>
    <p:notesMasterId r:id="rId120"/>
  </p:notesMasterIdLst>
  <p:sldIdLst>
    <p:sldId id="389" r:id="rId2"/>
    <p:sldId id="25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2" r:id="rId16"/>
    <p:sldId id="275" r:id="rId17"/>
    <p:sldId id="276" r:id="rId18"/>
    <p:sldId id="277" r:id="rId19"/>
    <p:sldId id="288" r:id="rId20"/>
    <p:sldId id="289" r:id="rId21"/>
    <p:sldId id="290" r:id="rId22"/>
    <p:sldId id="301" r:id="rId23"/>
    <p:sldId id="302" r:id="rId24"/>
    <p:sldId id="303" r:id="rId25"/>
    <p:sldId id="304" r:id="rId26"/>
    <p:sldId id="305" r:id="rId27"/>
    <p:sldId id="306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1" r:id="rId43"/>
    <p:sldId id="322" r:id="rId44"/>
    <p:sldId id="323" r:id="rId45"/>
    <p:sldId id="324" r:id="rId46"/>
    <p:sldId id="325" r:id="rId47"/>
    <p:sldId id="326" r:id="rId48"/>
    <p:sldId id="327" r:id="rId49"/>
    <p:sldId id="328" r:id="rId50"/>
    <p:sldId id="329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331" r:id="rId60"/>
    <p:sldId id="299" r:id="rId61"/>
    <p:sldId id="300" r:id="rId62"/>
    <p:sldId id="356" r:id="rId63"/>
    <p:sldId id="357" r:id="rId64"/>
    <p:sldId id="358" r:id="rId65"/>
    <p:sldId id="359" r:id="rId66"/>
    <p:sldId id="360" r:id="rId67"/>
    <p:sldId id="361" r:id="rId68"/>
    <p:sldId id="376" r:id="rId69"/>
    <p:sldId id="362" r:id="rId70"/>
    <p:sldId id="363" r:id="rId71"/>
    <p:sldId id="364" r:id="rId72"/>
    <p:sldId id="377" r:id="rId73"/>
    <p:sldId id="378" r:id="rId74"/>
    <p:sldId id="365" r:id="rId75"/>
    <p:sldId id="366" r:id="rId76"/>
    <p:sldId id="367" r:id="rId77"/>
    <p:sldId id="368" r:id="rId78"/>
    <p:sldId id="369" r:id="rId79"/>
    <p:sldId id="371" r:id="rId80"/>
    <p:sldId id="370" r:id="rId81"/>
    <p:sldId id="372" r:id="rId82"/>
    <p:sldId id="373" r:id="rId83"/>
    <p:sldId id="374" r:id="rId84"/>
    <p:sldId id="375" r:id="rId85"/>
    <p:sldId id="330" r:id="rId86"/>
    <p:sldId id="332" r:id="rId87"/>
    <p:sldId id="338" r:id="rId88"/>
    <p:sldId id="379" r:id="rId89"/>
    <p:sldId id="380" r:id="rId90"/>
    <p:sldId id="381" r:id="rId91"/>
    <p:sldId id="342" r:id="rId92"/>
    <p:sldId id="339" r:id="rId93"/>
    <p:sldId id="341" r:id="rId94"/>
    <p:sldId id="343" r:id="rId95"/>
    <p:sldId id="344" r:id="rId96"/>
    <p:sldId id="345" r:id="rId97"/>
    <p:sldId id="347" r:id="rId98"/>
    <p:sldId id="346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83" r:id="rId108"/>
    <p:sldId id="384" r:id="rId109"/>
    <p:sldId id="385" r:id="rId110"/>
    <p:sldId id="386" r:id="rId111"/>
    <p:sldId id="387" r:id="rId112"/>
    <p:sldId id="388" r:id="rId113"/>
    <p:sldId id="333" r:id="rId114"/>
    <p:sldId id="334" r:id="rId115"/>
    <p:sldId id="335" r:id="rId116"/>
    <p:sldId id="336" r:id="rId117"/>
    <p:sldId id="337" r:id="rId118"/>
    <p:sldId id="382" r:id="rId1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3300"/>
    <a:srgbClr val="F8E7B3"/>
    <a:srgbClr val="E9A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76" autoAdjust="0"/>
    <p:restoredTop sz="94660"/>
  </p:normalViewPr>
  <p:slideViewPr>
    <p:cSldViewPr snapToGrid="0">
      <p:cViewPr varScale="1">
        <p:scale>
          <a:sx n="87" d="100"/>
          <a:sy n="87" d="100"/>
        </p:scale>
        <p:origin x="171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EFF6D-ACE3-4312-A08B-4B6D54950233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EC775-69FE-4AA2-94E4-3C01DA8A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0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mplysoft.com/knowledge/DDL%20(Data%20Definition%20Language)%20%E0%B8%84%E0%B8%B7%E0%B8%AD%E0%B8%AD%E0%B8%B0%E0%B9%84%E0%B8%A3%20%E0%B8%A1%E0%B8%B5%E0%B8%84%E0%B8%A7%E0%B8%B2%E0%B8%A1%E0%B8%AA%E0%B8%B3%E0%B8%84%E0%B8%B1%E0%B8%8D%E0%B8%AD%E0%B8%A2%E0%B9%88%E0%B8%B2%E0%B8%87%E0%B9%84%E0%B8%A3.html" TargetMode="External"/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www.amplysoft.com/knowledge/DML%20(Data%20Manipulation%20Language)%20%E0%B8%84%E0%B8%B7%E0%B8%AD%E0%B8%AD%E0%B8%B0%E0%B9%84%E0%B8%A3%20%E0%B8%A1%E0%B8%B5%E0%B8%84%E0%B8%A7%E0%B8%B2%E0%B8%A1%E0%B8%AA%E0%B8%B3%E0%B8%84%E0%B8%B1%E0%B8%8D%E0%B8%AD%E0%B8%A2%E0%B9%88%E0%B8%B2%E0%B8%87%E0%B9%84%E0%B8%A3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01 </a:t>
            </a:r>
            <a:r>
              <a:rPr lang="en-US" dirty="0" err="1" smtClean="0"/>
              <a:t>Ddl</a:t>
            </a:r>
            <a:r>
              <a:rPr lang="en-US" dirty="0" smtClean="0"/>
              <a:t> (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Data Definition Language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หรือภาษาสำหรับจัดการ และนิยามโครงสร้างของฐานข้อมูล เป็นภาษาที่มีไว้สำหรับจัดการฐานข้อมูลโดยเฉพาะไม่ว่าจะเป็นการ สร้างฐานข้อมูล, แก้ไข หรือลบฐานข้อมูล โดยในภาษา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DDL,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CREATE, ALTER, DROP</a:t>
            </a:r>
            <a:endParaRPr lang="en-US" sz="1200" b="0" i="0" u="none" strike="noStrike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02 </a:t>
            </a:r>
            <a:r>
              <a:rPr lang="en-US" sz="1200" b="0" i="0" u="none" strike="noStrike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Dml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Data Manipulation Language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คือภาษาสำหรับจัดการข้อมูลที่จัดเก็บอยู่ในตารางข้อมูล ซึ่งในกลุ่มภาษา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DML </a:t>
            </a: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นั้นจะครอบคลุมการจัดการข้อมูลทั้งหมด เช่น การเพิ่ม, แก้ไข, ค้นหา และลบข้อมูล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,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SELECT, INSERT, UPDATE, DELETE</a:t>
            </a:r>
            <a:endParaRPr lang="en-US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solidFill>
                  <a:schemeClr val="tx1"/>
                </a:solidFill>
              </a:rPr>
              <a:t>03 </a:t>
            </a:r>
            <a:r>
              <a:rPr lang="en-US" sz="1200" dirty="0" err="1" smtClean="0">
                <a:solidFill>
                  <a:schemeClr val="tx1"/>
                </a:solidFill>
              </a:rPr>
              <a:t>Dcl</a:t>
            </a:r>
            <a:r>
              <a:rPr lang="en-US" sz="1200" dirty="0" smtClean="0">
                <a:solidFill>
                  <a:schemeClr val="tx1"/>
                </a:solidFill>
              </a:rPr>
              <a:t>  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(Data Control Language) </a:t>
            </a: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คือกลุ่มภาษาที่ใช้สำหรับการกำหนดสิทธิในการเข้าถึงข้อมูลที่จัดเก็บอยู่ในตาราง</a:t>
            </a:r>
            <a:r>
              <a:rPr lang="th-TH" dirty="0" smtClean="0"/>
              <a:t/>
            </a:r>
            <a:br>
              <a:rPr lang="th-TH" dirty="0" smtClean="0"/>
            </a:b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ข้อมูล เช่น กำหนดให้ นาย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</a:t>
            </a: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สามารถเข้าถึงเฉพาะตารางข้อมูลนี้ ห้ามเข้าถึงตารางข้อมูลอื่น ๆ หรือกำหนดให้ นาย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เข้าถึงได้ เฉพาะ 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 </a:t>
            </a:r>
            <a:r>
              <a:rPr lang="th-TH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ที่ต้องการเป็นต้น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,</a:t>
            </a:r>
            <a:r>
              <a:rPr lang="en-US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GRANT , REVOKE</a:t>
            </a:r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EC775-69FE-4AA2-94E4-3C01DA8A5471}" type="slidenum">
              <a:rPr lang="en-US" smtClean="0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39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21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18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3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678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4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84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82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2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417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058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389202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40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390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492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98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002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55D7E3-8982-4D25-A15F-8BE6C6C20087}" type="datetimeFigureOut">
              <a:rPr lang="en-US" smtClean="0"/>
              <a:t>6/23/2015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50E5-4EA0-4417-9F54-37DEDF1FE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4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  <p:sldLayoutId id="2147484026" r:id="rId12"/>
    <p:sldLayoutId id="2147484027" r:id="rId13"/>
    <p:sldLayoutId id="2147484028" r:id="rId14"/>
    <p:sldLayoutId id="2147484029" r:id="rId15"/>
    <p:sldLayoutId id="2147484030" r:id="rId16"/>
    <p:sldLayoutId id="214748403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image" Target="../media/image4.emf"/><Relationship Id="rId7" Type="http://schemas.openxmlformats.org/officeDocument/2006/relationships/slide" Target="slide9.xml"/><Relationship Id="rId12" Type="http://schemas.openxmlformats.org/officeDocument/2006/relationships/slide" Target="slide5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11" Type="http://schemas.openxmlformats.org/officeDocument/2006/relationships/slide" Target="slide107.xml"/><Relationship Id="rId5" Type="http://schemas.openxmlformats.org/officeDocument/2006/relationships/slide" Target="slide15.xml"/><Relationship Id="rId10" Type="http://schemas.openxmlformats.org/officeDocument/2006/relationships/slide" Target="slide85.xml"/><Relationship Id="rId4" Type="http://schemas.openxmlformats.org/officeDocument/2006/relationships/slide" Target="slide22.xml"/><Relationship Id="rId9" Type="http://schemas.openxmlformats.org/officeDocument/2006/relationships/slide" Target="slide1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e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jpe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slide" Target="slide2.xml"/><Relationship Id="rId4" Type="http://schemas.openxmlformats.org/officeDocument/2006/relationships/image" Target="../media/image77.jpe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2175" y="1298094"/>
            <a:ext cx="7315200" cy="2889109"/>
          </a:xfrm>
        </p:spPr>
        <p:txBody>
          <a:bodyPr>
            <a:noAutofit/>
          </a:bodyPr>
          <a:lstStyle/>
          <a:p>
            <a:pPr algn="ctr"/>
            <a:r>
              <a:rPr lang="en-US" sz="9600" dirty="0">
                <a:latin typeface="AngsanaUPC" panose="02020603050405020304" pitchFamily="18" charset="-34"/>
                <a:cs typeface="AngsanaUPC" panose="02020603050405020304" pitchFamily="18" charset="-34"/>
              </a:rPr>
              <a:t>ERP Standard </a:t>
            </a:r>
            <a:r>
              <a:rPr lang="en-US" sz="9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en-US" sz="9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9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&amp; Manual</a:t>
            </a:r>
            <a:endParaRPr lang="en-US" sz="96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312701"/>
            <a:ext cx="7315200" cy="68580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en-GB" alt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BY SOFT INTER CHIANG RAI CO.,LTD</a:t>
            </a:r>
            <a:r>
              <a:rPr lang="en-GB" alt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</a:p>
          <a:p>
            <a:pPr algn="r"/>
            <a:r>
              <a:rPr lang="en-GB" alt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2015 </a:t>
            </a:r>
            <a:r>
              <a:rPr lang="en-GB" alt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June.</a:t>
            </a:r>
            <a:endParaRPr lang="en-GB" alt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514" y="3759323"/>
            <a:ext cx="1873250" cy="142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28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2" y="901532"/>
            <a:ext cx="6377940" cy="1293028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AGENDA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260" y="2194560"/>
            <a:ext cx="3568639" cy="4663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ตั้งชื่อไฟล์ที่ใช้พัฒนา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</a:t>
            </a: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  <a:p>
            <a:pPr marL="457200" indent="-457200">
              <a:buAutoNum type="arabicPeriod"/>
            </a:pPr>
            <a:endParaRPr lang="th-TH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2. การตั้งรหัสเมนู 		</a:t>
            </a:r>
            <a:endParaRPr lang="en-US" sz="2400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th-TH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3. การตั้งรหัส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Object 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ต่างๆ	</a:t>
            </a:r>
            <a:endParaRPr lang="en-US" sz="2400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th-TH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4.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 Table	</a:t>
            </a:r>
            <a:endParaRPr lang="en-US" sz="2400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	</a:t>
            </a:r>
          </a:p>
          <a:p>
            <a:pPr marL="0" indent="0">
              <a:buNone/>
            </a:pP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5" name="Picture 4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12" y="2137961"/>
            <a:ext cx="473248" cy="473248"/>
          </a:xfrm>
          <a:prstGeom prst="rect">
            <a:avLst/>
          </a:prstGeom>
        </p:spPr>
      </p:pic>
      <p:pic>
        <p:nvPicPr>
          <p:cNvPr id="6" name="Picture 5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2" y="5696659"/>
            <a:ext cx="473248" cy="473248"/>
          </a:xfrm>
          <a:prstGeom prst="rect">
            <a:avLst/>
          </a:prstGeom>
        </p:spPr>
      </p:pic>
      <p:pic>
        <p:nvPicPr>
          <p:cNvPr id="7" name="Picture 6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12" y="3857635"/>
            <a:ext cx="473248" cy="473248"/>
          </a:xfrm>
          <a:prstGeom prst="rect">
            <a:avLst/>
          </a:prstGeom>
        </p:spPr>
      </p:pic>
      <p:pic>
        <p:nvPicPr>
          <p:cNvPr id="8" name="Picture 7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2" y="4777147"/>
            <a:ext cx="473248" cy="473248"/>
          </a:xfrm>
          <a:prstGeom prst="rect">
            <a:avLst/>
          </a:prstGeom>
        </p:spPr>
      </p:pic>
      <p:pic>
        <p:nvPicPr>
          <p:cNvPr id="9" name="Picture 8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82" y="2997798"/>
            <a:ext cx="473248" cy="473248"/>
          </a:xfrm>
          <a:prstGeom prst="rect">
            <a:avLst/>
          </a:prstGeom>
        </p:spPr>
      </p:pic>
      <p:sp>
        <p:nvSpPr>
          <p:cNvPr id="15" name="Content Placeholder 2"/>
          <p:cNvSpPr txBox="1">
            <a:spLocks/>
          </p:cNvSpPr>
          <p:nvPr/>
        </p:nvSpPr>
        <p:spPr>
          <a:xfrm>
            <a:off x="5171405" y="2194560"/>
            <a:ext cx="3568639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 การจัดทำหน้าจอค้นหา</a:t>
            </a:r>
          </a:p>
          <a:p>
            <a:pPr marL="0" indent="0">
              <a:buNone/>
            </a:pPr>
            <a:endParaRPr lang="th-TH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7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. การจัดทำหน้าจอบันทึก</a:t>
            </a:r>
          </a:p>
          <a:p>
            <a:pPr marL="0" indent="0">
              <a:buNone/>
            </a:pPr>
            <a:endParaRPr lang="th-TH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8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. การจัดทำรายงาน</a:t>
            </a:r>
          </a:p>
          <a:p>
            <a:pPr marL="0" indent="0">
              <a:buNone/>
            </a:pPr>
            <a:endParaRPr lang="th-TH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. การนำเข้าและส่งออก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</a:p>
          <a:p>
            <a:pPr marL="0" indent="0">
              <a:buNone/>
            </a:pP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. 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Deploy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16" name="Picture 15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157" y="2194560"/>
            <a:ext cx="473248" cy="473248"/>
          </a:xfrm>
          <a:prstGeom prst="rect">
            <a:avLst/>
          </a:prstGeom>
        </p:spPr>
      </p:pic>
      <p:pic>
        <p:nvPicPr>
          <p:cNvPr id="17" name="Picture 16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127" y="5753258"/>
            <a:ext cx="473248" cy="473248"/>
          </a:xfrm>
          <a:prstGeom prst="rect">
            <a:avLst/>
          </a:prstGeom>
        </p:spPr>
      </p:pic>
      <p:pic>
        <p:nvPicPr>
          <p:cNvPr id="18" name="Picture 17">
            <a:hlinkClick r:id="rId10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157" y="3914234"/>
            <a:ext cx="473248" cy="473248"/>
          </a:xfrm>
          <a:prstGeom prst="rect">
            <a:avLst/>
          </a:prstGeom>
        </p:spPr>
      </p:pic>
      <p:pic>
        <p:nvPicPr>
          <p:cNvPr id="19" name="Picture 18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127" y="4833746"/>
            <a:ext cx="473248" cy="473248"/>
          </a:xfrm>
          <a:prstGeom prst="rect">
            <a:avLst/>
          </a:prstGeom>
        </p:spPr>
      </p:pic>
      <p:pic>
        <p:nvPicPr>
          <p:cNvPr id="20" name="Picture 19">
            <a:hlinkClick r:id="rId1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127" y="3054397"/>
            <a:ext cx="473248" cy="47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05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การตั้งชื่อไฟล์ที่ใช้พัฒนาโปรแกรม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Input Form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	</a:t>
            </a:r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851120"/>
              </p:ext>
            </p:extLst>
          </p:nvPr>
        </p:nvGraphicFramePr>
        <p:xfrm>
          <a:off x="1575954" y="2667000"/>
          <a:ext cx="6096000" cy="35966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541319"/>
                <a:gridCol w="45546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Java Script </a:t>
                      </a:r>
                      <a:endParaRPr lang="en-US" sz="2000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ตั้งชื่อโดยใช้รหัสโปรแกรม</a:t>
                      </a:r>
                      <a:r>
                        <a:rPr lang="en-US" sz="20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th-TH" sz="20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ตัวอย่าง </a:t>
                      </a:r>
                      <a:r>
                        <a:rPr lang="en-US" sz="20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ERAPRT01.js</a:t>
                      </a:r>
                      <a:endParaRPr lang="en-US" sz="2000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Controller 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ตั้งชื่อโดยใช้รหัสโปรแกรม แล้วต่อด้วย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“Controller” </a:t>
                      </a:r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ตัวอย่าง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ERAPDT01Controller.java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Domain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ตั้งชื่อโดยใช้รหัสโปรแกรม แล้วต่อด้วย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“Domain”</a:t>
                      </a:r>
                      <a:b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</a:br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ตัวอย่าง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ERAPDT01Domain.java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GridPanel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ตั้งชื่อโดยใช้รหัสโปรแกรม แล้วต่อด้วย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“</a:t>
                      </a:r>
                      <a:r>
                        <a:rPr lang="en-US" sz="2000" dirty="0" err="1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GridPanel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”</a:t>
                      </a:r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ตัวอย่าง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ERAPDT01GridPanel.java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GridRecord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ตั้งชื่อโดยใช้รหัสโปรแกรม แล้วต่อด้วย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“</a:t>
                      </a:r>
                      <a:r>
                        <a:rPr lang="en-US" sz="2000" dirty="0" err="1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GridRecord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” </a:t>
                      </a:r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ตัวอย่าง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ERAPDT01 GridRecord.java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Bean</a:t>
                      </a:r>
                      <a:endParaRPr lang="en-US" sz="200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ตั้งชื่อโดยใช้รหัสโปรแกรม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th-TH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ตัวอย่าง </a:t>
                      </a:r>
                      <a:r>
                        <a:rPr lang="en-US" sz="200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ERAPDT01.java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486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การตั้งชื่อไฟล์ที่ใช้พัฒนาโปรแกรม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6919144" cy="43825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 Report 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report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จะใช้ชื่อเดียวกับรหัสเมนู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ERAPRT01.jrxml</a:t>
            </a: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 Entity 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Entity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จะใช้ชื่อ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นั้นๆมาตั้งโดยตัดอักษรพิเศษออก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และให้อักษรแรกของพยางค์หรือคำนั้นๆเป็นต้น อักษรใหญ่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 </a:t>
            </a: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AP_BILL_MASTER ---&gt; ApBillMaster.java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แต่ถ้าหาก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นั้นๆ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มี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PK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มากกว่า 1 ตัวจะสร้างอีก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Entity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ไว้เก็บ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PK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นั้นๆโดยใช้ชื่อ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E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ntity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ตามด้วย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PK</a:t>
            </a:r>
            <a:b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ApBillMasterPk.java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6844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การตั้งชื่อไฟล์ที่ใช้พัฒนาโปรแกรม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05297" y="1607698"/>
            <a:ext cx="1540787" cy="5563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กรณีทั่วไป 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064816" y="3520041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175022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None/>
              <a:tabLst/>
              <a:defRPr sz="16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515541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tabLst/>
              <a:defRPr sz="15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68580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tabLst/>
              <a:defRPr sz="13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85606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tabLst/>
              <a:defRPr sz="135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85606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tabLst/>
              <a:defRPr lang="en-US" sz="135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6pPr>
            <a:lvl7pPr marL="85606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tabLst/>
              <a:defRPr lang="en-US" sz="135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7pPr>
            <a:lvl8pPr marL="85606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tabLst/>
              <a:defRPr lang="en-US" sz="135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8pPr>
            <a:lvl9pPr marL="85606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tabLst/>
              <a:defRPr lang="en-US" sz="1350" kern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Segoe UI" panose="020B0502040204020203" pitchFamily="34" charset="0"/>
              </a:defRPr>
            </a:lvl9pPr>
          </a:lstStyle>
          <a:p>
            <a:pPr algn="ctr"/>
            <a:r>
              <a:rPr lang="en-US" sz="1125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ER</a:t>
            </a:r>
            <a:r>
              <a:rPr lang="en-US" sz="11250" dirty="0" smtClean="0">
                <a:solidFill>
                  <a:schemeClr val="accent1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AP</a:t>
            </a:r>
            <a:r>
              <a:rPr lang="en-US" sz="11250" dirty="0" smtClean="0">
                <a:solidFill>
                  <a:schemeClr val="accent6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RT</a:t>
            </a:r>
            <a:r>
              <a:rPr lang="en-US" sz="11250" dirty="0" smtClean="0">
                <a:solidFill>
                  <a:schemeClr val="accent5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01</a:t>
            </a:r>
            <a:endParaRPr lang="en-US" sz="11250" dirty="0">
              <a:solidFill>
                <a:schemeClr val="accent5">
                  <a:lumMod val="7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Line Callout 2 5"/>
          <p:cNvSpPr/>
          <p:nvPr/>
        </p:nvSpPr>
        <p:spPr>
          <a:xfrm flipH="1">
            <a:off x="191613" y="3028551"/>
            <a:ext cx="2041325" cy="765809"/>
          </a:xfrm>
          <a:prstGeom prst="borderCallout2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ชื่อโปรเจ็ค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Line Callout 2 6"/>
          <p:cNvSpPr/>
          <p:nvPr/>
        </p:nvSpPr>
        <p:spPr>
          <a:xfrm flipH="1">
            <a:off x="1326803" y="5288835"/>
            <a:ext cx="2041325" cy="765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67204"/>
              <a:gd name="adj6" fmla="val -4120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รหัสโมดูล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8" name="Line Callout 2 7"/>
          <p:cNvSpPr/>
          <p:nvPr/>
        </p:nvSpPr>
        <p:spPr>
          <a:xfrm flipH="1">
            <a:off x="6169503" y="2359053"/>
            <a:ext cx="2611755" cy="1174430"/>
          </a:xfrm>
          <a:prstGeom prst="borderCallout2">
            <a:avLst>
              <a:gd name="adj1" fmla="val 41138"/>
              <a:gd name="adj2" fmla="val 106733"/>
              <a:gd name="adj3" fmla="val 43376"/>
              <a:gd name="adj4" fmla="val 121916"/>
              <a:gd name="adj5" fmla="val 138361"/>
              <a:gd name="adj6" fmla="val 1250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รหัสประเภทแฟ้มข้อมูล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Line Callout 2 8"/>
          <p:cNvSpPr/>
          <p:nvPr/>
        </p:nvSpPr>
        <p:spPr>
          <a:xfrm flipH="1">
            <a:off x="6739933" y="5193109"/>
            <a:ext cx="2041325" cy="765809"/>
          </a:xfrm>
          <a:prstGeom prst="borderCallout2">
            <a:avLst>
              <a:gd name="adj1" fmla="val 34422"/>
              <a:gd name="adj2" fmla="val 104213"/>
              <a:gd name="adj3" fmla="val 34422"/>
              <a:gd name="adj4" fmla="val 110997"/>
              <a:gd name="adj5" fmla="val -54875"/>
              <a:gd name="adj6" fmla="val 10996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Page </a:t>
            </a:r>
            <a:r>
              <a:rPr lang="en-US" sz="405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No</a:t>
            </a:r>
            <a:r>
              <a:rPr lang="th-TH" sz="405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98015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การตั้งชื่อไฟล์ที่ใช้พัฒนาโปรแกรม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65900" y="3390430"/>
            <a:ext cx="7514035" cy="23431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250" dirty="0">
                <a:latin typeface="AngsanaUPC" panose="02020603050405020304" pitchFamily="18" charset="-34"/>
                <a:cs typeface="AngsanaUPC" panose="02020603050405020304" pitchFamily="18" charset="-34"/>
              </a:rPr>
              <a:t>ER</a:t>
            </a:r>
            <a:r>
              <a:rPr lang="en-US" sz="11250" dirty="0">
                <a:solidFill>
                  <a:schemeClr val="accent1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AP</a:t>
            </a:r>
            <a:r>
              <a:rPr lang="en-US" sz="11250" dirty="0">
                <a:solidFill>
                  <a:schemeClr val="accent6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RT</a:t>
            </a:r>
            <a:r>
              <a:rPr lang="en-US" sz="11250" dirty="0">
                <a:solidFill>
                  <a:schemeClr val="accent5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01</a:t>
            </a:r>
            <a:r>
              <a:rPr lang="en-US" sz="11250" dirty="0">
                <a:solidFill>
                  <a:schemeClr val="tx1">
                    <a:lumMod val="75000"/>
                    <a:lumOff val="2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TP</a:t>
            </a:r>
            <a:r>
              <a:rPr lang="en-US" sz="11250" dirty="0">
                <a:solidFill>
                  <a:schemeClr val="accent6">
                    <a:lumMod val="60000"/>
                    <a:lumOff val="4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01</a:t>
            </a:r>
          </a:p>
        </p:txBody>
      </p:sp>
      <p:sp>
        <p:nvSpPr>
          <p:cNvPr id="5" name="Line Callout 2 4"/>
          <p:cNvSpPr/>
          <p:nvPr/>
        </p:nvSpPr>
        <p:spPr>
          <a:xfrm flipH="1">
            <a:off x="355481" y="2826450"/>
            <a:ext cx="1717559" cy="765809"/>
          </a:xfrm>
          <a:prstGeom prst="borderCallout2">
            <a:avLst>
              <a:gd name="adj1" fmla="val 18750"/>
              <a:gd name="adj2" fmla="val -2028"/>
              <a:gd name="adj3" fmla="val 18750"/>
              <a:gd name="adj4" fmla="val -16667"/>
              <a:gd name="adj5" fmla="val 124387"/>
              <a:gd name="adj6" fmla="val -2495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ชื่อโปรเจ็ค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Line Callout 2 5"/>
          <p:cNvSpPr/>
          <p:nvPr/>
        </p:nvSpPr>
        <p:spPr>
          <a:xfrm flipH="1">
            <a:off x="631047" y="4859785"/>
            <a:ext cx="2041325" cy="765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8912"/>
              <a:gd name="adj6" fmla="val -3381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รหัสโมดูล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Line Callout 2 6"/>
          <p:cNvSpPr/>
          <p:nvPr/>
        </p:nvSpPr>
        <p:spPr>
          <a:xfrm flipH="1">
            <a:off x="2972689" y="2197983"/>
            <a:ext cx="1851978" cy="916599"/>
          </a:xfrm>
          <a:prstGeom prst="borderCallout2">
            <a:avLst>
              <a:gd name="adj1" fmla="val 44876"/>
              <a:gd name="adj2" fmla="val -702"/>
              <a:gd name="adj3" fmla="val 46666"/>
              <a:gd name="adj4" fmla="val -20100"/>
              <a:gd name="adj5" fmla="val 174303"/>
              <a:gd name="adj6" fmla="val -8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360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รหัสประเภทแฟ้มข้อมูล</a:t>
            </a:r>
            <a:endParaRPr lang="en-US" sz="360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8" name="Line Callout 2 7"/>
          <p:cNvSpPr/>
          <p:nvPr/>
        </p:nvSpPr>
        <p:spPr>
          <a:xfrm flipH="1">
            <a:off x="6894429" y="4926861"/>
            <a:ext cx="2044336" cy="1187681"/>
          </a:xfrm>
          <a:prstGeom prst="borderCallout2">
            <a:avLst>
              <a:gd name="adj1" fmla="val 34422"/>
              <a:gd name="adj2" fmla="val 104213"/>
              <a:gd name="adj3" fmla="val 34422"/>
              <a:gd name="adj4" fmla="val 110997"/>
              <a:gd name="adj5" fmla="val -29240"/>
              <a:gd name="adj6" fmla="val 10155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บอกให้รู้ว่าเป็น </a:t>
            </a:r>
            <a:r>
              <a:rPr lang="en-US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Tab</a:t>
            </a:r>
          </a:p>
        </p:txBody>
      </p:sp>
      <p:sp>
        <p:nvSpPr>
          <p:cNvPr id="9" name="Line Callout 2 8"/>
          <p:cNvSpPr/>
          <p:nvPr/>
        </p:nvSpPr>
        <p:spPr>
          <a:xfrm flipH="1">
            <a:off x="3109502" y="5348733"/>
            <a:ext cx="2041325" cy="765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0323"/>
              <a:gd name="adj6" fmla="val -3686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Page </a:t>
            </a:r>
            <a:r>
              <a:rPr lang="en-US" sz="405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No</a:t>
            </a:r>
            <a:r>
              <a:rPr lang="th-TH" sz="405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0" name="Line Callout 2 9"/>
          <p:cNvSpPr/>
          <p:nvPr/>
        </p:nvSpPr>
        <p:spPr>
          <a:xfrm flipH="1">
            <a:off x="5724316" y="2814670"/>
            <a:ext cx="2041325" cy="765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1114"/>
              <a:gd name="adj6" fmla="val -1012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Tab No</a:t>
            </a:r>
          </a:p>
        </p:txBody>
      </p:sp>
      <p:sp>
        <p:nvSpPr>
          <p:cNvPr id="12" name="Content Placeholder 3"/>
          <p:cNvSpPr txBox="1">
            <a:spLocks/>
          </p:cNvSpPr>
          <p:nvPr/>
        </p:nvSpPr>
        <p:spPr>
          <a:xfrm>
            <a:off x="628650" y="1607698"/>
            <a:ext cx="1540787" cy="55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กรณี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มี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Tab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9209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การตั้งชื่อไฟล์ที่ใช้พัฒนาโปรแกรม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1125265" y="3090314"/>
            <a:ext cx="7514035" cy="23431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1250" dirty="0">
                <a:latin typeface="AngsanaUPC" panose="02020603050405020304" pitchFamily="18" charset="-34"/>
                <a:cs typeface="AngsanaUPC" panose="02020603050405020304" pitchFamily="18" charset="-34"/>
              </a:rPr>
              <a:t>ER</a:t>
            </a:r>
            <a:r>
              <a:rPr lang="en-US" sz="11250" dirty="0">
                <a:solidFill>
                  <a:schemeClr val="accent1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AP</a:t>
            </a:r>
            <a:r>
              <a:rPr lang="en-US" sz="11250" dirty="0">
                <a:solidFill>
                  <a:schemeClr val="accent6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RT</a:t>
            </a:r>
            <a:r>
              <a:rPr lang="en-US" sz="11250" dirty="0">
                <a:solidFill>
                  <a:schemeClr val="accent5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01</a:t>
            </a:r>
            <a:r>
              <a:rPr lang="en-US" sz="11250" dirty="0">
                <a:solidFill>
                  <a:schemeClr val="accent2">
                    <a:lumMod val="60000"/>
                    <a:lumOff val="4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</a:t>
            </a:r>
            <a:r>
              <a:rPr lang="en-US" sz="11250" dirty="0">
                <a:solidFill>
                  <a:schemeClr val="accent5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 </a:t>
            </a:r>
            <a:endParaRPr lang="en-US" sz="11250" dirty="0">
              <a:solidFill>
                <a:schemeClr val="accent6">
                  <a:lumMod val="60000"/>
                  <a:lumOff val="4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28650" y="1607698"/>
            <a:ext cx="2145723" cy="55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กรณีมี 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หน้าย่อย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ต่อ 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Line Callout 2 8"/>
          <p:cNvSpPr/>
          <p:nvPr/>
        </p:nvSpPr>
        <p:spPr>
          <a:xfrm flipH="1">
            <a:off x="252062" y="2430382"/>
            <a:ext cx="2041325" cy="765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2996"/>
              <a:gd name="adj6" fmla="val -2290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ชื่อโปรเจ็ค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0" name="Line Callout 2 9"/>
          <p:cNvSpPr/>
          <p:nvPr/>
        </p:nvSpPr>
        <p:spPr>
          <a:xfrm flipH="1">
            <a:off x="507220" y="4776241"/>
            <a:ext cx="2041325" cy="765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5047"/>
              <a:gd name="adj6" fmla="val -4796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รหัสโมดูล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Line Callout 2 10"/>
          <p:cNvSpPr/>
          <p:nvPr/>
        </p:nvSpPr>
        <p:spPr>
          <a:xfrm flipH="1">
            <a:off x="6525644" y="2023592"/>
            <a:ext cx="1989706" cy="1174430"/>
          </a:xfrm>
          <a:prstGeom prst="borderCallout2">
            <a:avLst>
              <a:gd name="adj1" fmla="val 53101"/>
              <a:gd name="adj2" fmla="val 107476"/>
              <a:gd name="adj3" fmla="val 50279"/>
              <a:gd name="adj4" fmla="val 120997"/>
              <a:gd name="adj5" fmla="val 126610"/>
              <a:gd name="adj6" fmla="val 15480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รหัสประเภทแฟ้มข้อมูล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2" name="Line Callout 2 11"/>
          <p:cNvSpPr/>
          <p:nvPr/>
        </p:nvSpPr>
        <p:spPr>
          <a:xfrm flipH="1">
            <a:off x="2688274" y="5433465"/>
            <a:ext cx="2041325" cy="765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54072"/>
              <a:gd name="adj6" fmla="val -6752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Page </a:t>
            </a:r>
            <a:r>
              <a:rPr lang="en-US" sz="405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No</a:t>
            </a:r>
            <a:r>
              <a:rPr lang="th-TH" sz="405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  <a:endParaRPr lang="en-US" sz="405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Line Callout 2 12"/>
          <p:cNvSpPr/>
          <p:nvPr/>
        </p:nvSpPr>
        <p:spPr>
          <a:xfrm flipH="1">
            <a:off x="5663787" y="5319879"/>
            <a:ext cx="2041325" cy="91595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0299"/>
              <a:gd name="adj6" fmla="val 805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10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ใช้ตัวอักษรภาษาอังกฤษ เริ่มต้นจาก </a:t>
            </a:r>
            <a:r>
              <a:rPr lang="en-US" sz="210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 </a:t>
            </a:r>
            <a:r>
              <a:rPr lang="th-TH" sz="210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</a:t>
            </a:r>
            <a:r>
              <a:rPr lang="th-TH" sz="210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ระบ</a:t>
            </a:r>
            <a:r>
              <a:rPr lang="th-TH" sz="210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ุ</a:t>
            </a:r>
            <a:r>
              <a:rPr lang="th-TH" sz="2100" dirty="0" smtClean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ว่า</a:t>
            </a:r>
            <a:r>
              <a:rPr lang="th-TH" sz="2100" dirty="0">
                <a:solidFill>
                  <a:srgbClr val="40404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เป็นหน้าย่อย</a:t>
            </a:r>
            <a:endParaRPr lang="en-US" sz="2100" dirty="0">
              <a:solidFill>
                <a:srgbClr val="40404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6808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การตั้งชื่อไฟล์ที่ใช้พัฒนาโปรแกรม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รหัส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ประเภทแฟ้มข้อมูล จะใช้ตัวอักษรสองตัวเป็นรหัส </a:t>
            </a:r>
          </a:p>
          <a:p>
            <a:pPr marL="0" indent="0">
              <a:buNone/>
            </a:pPr>
            <a:r>
              <a:rPr lang="th-TH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เช่น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แฟ้มข้อมูล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หลัก ใช้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RT 	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---&gt; ERARRT01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รายการ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ประจำวัน ใช้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DT	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---&gt; ERARDT01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RP 		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---&gt; ERARRP01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88" y="62505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8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ตั้งรหัสเมนู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กำหนด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รายละเอียดโปรแกรม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(ERSURT04)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824"/>
          <a:stretch/>
        </p:blipFill>
        <p:spPr>
          <a:xfrm>
            <a:off x="719052" y="2544203"/>
            <a:ext cx="7998922" cy="4209887"/>
          </a:xfrm>
          <a:prstGeom prst="rect">
            <a:avLst/>
          </a:prstGeom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1597333" y="5385897"/>
            <a:ext cx="6102219" cy="926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เป็นการกำหนด รหัสโปรแกรม และ ชื่อโปรแกรม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Save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Insert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เข้า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Table: SU_PROGRAM</a:t>
            </a:r>
          </a:p>
        </p:txBody>
      </p:sp>
    </p:spTree>
    <p:extLst>
      <p:ext uri="{BB962C8B-B14F-4D97-AF65-F5344CB8AC3E}">
        <p14:creationId xmlns:p14="http://schemas.microsoft.com/office/powerpoint/2010/main" val="397158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การตั้งรหัสเมนู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กำหนดรายละเอียดเมนู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(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ERSURT05)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971" b="19751"/>
          <a:stretch/>
        </p:blipFill>
        <p:spPr>
          <a:xfrm>
            <a:off x="136399" y="2634528"/>
            <a:ext cx="8871202" cy="376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1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การตั้งรหัสเมนู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132" y="2107652"/>
            <a:ext cx="8014508" cy="1309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เป็นการกำหนดเมนู และเลือกภาษา โดยเชื่อมกับโปรแกรมที่กำหนดไว้ก่อนหน้า และสามารถกำหนดให้มีหลายภาษาได้ ตาม </a:t>
            </a: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LIN_ID </a:t>
            </a: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ที่มีการบันทึกไว้ในระบบโดยเมื่อ </a:t>
            </a: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Save </a:t>
            </a: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ข้อมูลจะ </a:t>
            </a: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Insert </a:t>
            </a: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เข้า</a:t>
            </a: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2 Table</a:t>
            </a:r>
          </a:p>
          <a:p>
            <a:pPr marL="0" indent="0">
              <a:buNone/>
            </a:pP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: SU_MENU_MASTER </a:t>
            </a:r>
          </a:p>
          <a:p>
            <a:pPr marL="0" indent="0">
              <a:buNone/>
            </a:pPr>
            <a:endParaRPr lang="en-US" sz="21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sz="21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sz="21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2" y="3564573"/>
            <a:ext cx="8734816" cy="327300"/>
          </a:xfrm>
          <a:prstGeom prst="rect">
            <a:avLst/>
          </a:prstGeom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535132" y="4251885"/>
            <a:ext cx="7980218" cy="253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 Table </a:t>
            </a:r>
            <a:r>
              <a:rPr lang="en-US" sz="2100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en-US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SU_MENU_DETAIL</a:t>
            </a:r>
            <a:endParaRPr lang="en-US" sz="21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 algn="ctr">
              <a:buNone/>
            </a:pPr>
            <a:endParaRPr lang="en-US" sz="21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95" y="5074365"/>
            <a:ext cx="8726407" cy="78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95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การตั้งรหัสเมนู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483426" y="3030971"/>
            <a:ext cx="4390159" cy="1478684"/>
          </a:xfrm>
        </p:spPr>
        <p:txBody>
          <a:bodyPr>
            <a:normAutofit/>
          </a:bodyPr>
          <a:lstStyle/>
          <a:p>
            <a:pPr marL="0" indent="0" algn="ctr">
              <a:buClr>
                <a:srgbClr val="30ACEC">
                  <a:lumMod val="75000"/>
                </a:srgbClr>
              </a:buClr>
              <a:buNone/>
            </a:pPr>
            <a:r>
              <a:rPr lang="en-US" sz="9600" b="1" dirty="0" smtClean="0">
                <a:solidFill>
                  <a:srgbClr val="92D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03</a:t>
            </a:r>
            <a:r>
              <a:rPr lang="en-US" sz="96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AP</a:t>
            </a:r>
            <a:r>
              <a:rPr lang="en-US" sz="9600" b="1" dirty="0" smtClean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10</a:t>
            </a:r>
            <a:r>
              <a:rPr lang="en-US" sz="96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01</a:t>
            </a:r>
            <a:endParaRPr lang="en-US" sz="96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Line Callout 2 4"/>
          <p:cNvSpPr/>
          <p:nvPr/>
        </p:nvSpPr>
        <p:spPr>
          <a:xfrm flipH="1">
            <a:off x="1185450" y="4257090"/>
            <a:ext cx="2041325" cy="50512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1978"/>
              <a:gd name="adj6" fmla="val -4246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30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รหัสโมดูล</a:t>
            </a:r>
            <a:endParaRPr lang="en-US" sz="3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Line Callout 2 5"/>
          <p:cNvSpPr/>
          <p:nvPr/>
        </p:nvSpPr>
        <p:spPr>
          <a:xfrm flipH="1">
            <a:off x="228601" y="2624906"/>
            <a:ext cx="2427194" cy="5309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9391"/>
              <a:gd name="adj6" fmla="val -3662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3000" dirty="0">
                <a:latin typeface="AngsanaUPC" panose="02020603050405020304" pitchFamily="18" charset="-34"/>
                <a:cs typeface="AngsanaUPC" panose="02020603050405020304" pitchFamily="18" charset="-34"/>
              </a:rPr>
              <a:t>ลำดับของแต่ละโมดูล</a:t>
            </a:r>
            <a:endParaRPr lang="en-US" sz="3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Line Callout 2 6"/>
          <p:cNvSpPr/>
          <p:nvPr/>
        </p:nvSpPr>
        <p:spPr>
          <a:xfrm flipH="1">
            <a:off x="5714999" y="4257090"/>
            <a:ext cx="2984485" cy="1719631"/>
          </a:xfrm>
          <a:prstGeom prst="borderCallout2">
            <a:avLst>
              <a:gd name="adj1" fmla="val 44530"/>
              <a:gd name="adj2" fmla="val 105180"/>
              <a:gd name="adj3" fmla="val 43173"/>
              <a:gd name="adj4" fmla="val 118734"/>
              <a:gd name="adj5" fmla="val -15381"/>
              <a:gd name="adj6" fmla="val 12369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100" dirty="0">
                <a:latin typeface="AngsanaUPC" panose="02020603050405020304" pitchFamily="18" charset="-34"/>
                <a:cs typeface="AngsanaUPC" panose="02020603050405020304" pitchFamily="18" charset="-34"/>
              </a:rPr>
              <a:t>ลำดับโฟลเดอร์ เช่น 10 แฟ้มข้อมูลหลัก 20 รายการประจำวัน 30 ประมวลผล 40 รายงาน แล้วถ้ามีความต้องการแบ่งหมวดหมู่เมนูเพิ่มเติม สามารถ</a:t>
            </a: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กำหนด</a:t>
            </a:r>
            <a:r>
              <a:rPr lang="th-TH" sz="21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 15, 25 เพื่อแทรกเมนู</a:t>
            </a: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เพิ่มเติม</a:t>
            </a:r>
            <a:r>
              <a:rPr lang="th-TH" sz="21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</a:t>
            </a:r>
          </a:p>
        </p:txBody>
      </p:sp>
      <p:sp>
        <p:nvSpPr>
          <p:cNvPr id="8" name="Line Callout 2 7"/>
          <p:cNvSpPr/>
          <p:nvPr/>
        </p:nvSpPr>
        <p:spPr>
          <a:xfrm flipH="1">
            <a:off x="6274216" y="2007166"/>
            <a:ext cx="2041325" cy="1148716"/>
          </a:xfrm>
          <a:prstGeom prst="borderCallout2">
            <a:avLst>
              <a:gd name="adj1" fmla="val 44530"/>
              <a:gd name="adj2" fmla="val 105180"/>
              <a:gd name="adj3" fmla="val 43173"/>
              <a:gd name="adj4" fmla="val 118734"/>
              <a:gd name="adj5" fmla="val 121297"/>
              <a:gd name="adj6" fmla="val 13620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เมนูย่อยใต้โฟลเดอร์ และ เมนูต้องตั้งให้เป็น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Hierarchies</a:t>
            </a:r>
          </a:p>
        </p:txBody>
      </p:sp>
    </p:spTree>
    <p:extLst>
      <p:ext uri="{BB962C8B-B14F-4D97-AF65-F5344CB8AC3E}">
        <p14:creationId xmlns:p14="http://schemas.microsoft.com/office/powerpoint/2010/main" val="4282215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การตั้งรหัสเมนู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ตัวอย่างการสร้างเมนูโมดูล</a:t>
            </a:r>
            <a:r>
              <a:rPr lang="th-TH" sz="2400" b="1" dirty="0" smtClean="0">
                <a:solidFill>
                  <a:srgbClr val="92D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		</a:t>
            </a:r>
            <a:endParaRPr lang="en-US" sz="2400" dirty="0" smtClean="0">
              <a:solidFill>
                <a:srgbClr val="D64787">
                  <a:lumMod val="75000"/>
                </a:srgb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074860" y="2667562"/>
            <a:ext cx="3115970" cy="926370"/>
            <a:chOff x="1146015" y="2348900"/>
            <a:chExt cx="3115970" cy="92637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46015" y="2348900"/>
              <a:ext cx="3115970" cy="92637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1294946" y="2348900"/>
              <a:ext cx="2553739" cy="342274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074860" y="3914006"/>
            <a:ext cx="3030965" cy="968659"/>
            <a:chOff x="1159865" y="3829596"/>
            <a:chExt cx="3030965" cy="968659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59865" y="3829596"/>
              <a:ext cx="3030965" cy="968659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1476745" y="4001294"/>
              <a:ext cx="2553739" cy="342274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61008" y="5418377"/>
            <a:ext cx="3215201" cy="982422"/>
            <a:chOff x="1146015" y="5408416"/>
            <a:chExt cx="3215201" cy="98242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6015" y="5408416"/>
              <a:ext cx="3215201" cy="982422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708246" y="5728490"/>
              <a:ext cx="2553739" cy="342274"/>
            </a:xfrm>
            <a:prstGeom prst="rect">
              <a:avLst/>
            </a:prstGeom>
            <a:noFill/>
            <a:ln w="19050" cmpd="sng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057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การตั้งรหัสเมนู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28650" y="2968629"/>
            <a:ext cx="8104910" cy="1478684"/>
          </a:xfrm>
        </p:spPr>
        <p:txBody>
          <a:bodyPr>
            <a:noAutofit/>
          </a:bodyPr>
          <a:lstStyle/>
          <a:p>
            <a:pPr marL="0" indent="0" algn="ctr">
              <a:buClr>
                <a:srgbClr val="30ACEC">
                  <a:lumMod val="75000"/>
                </a:srgbClr>
              </a:buClr>
              <a:buNone/>
            </a:pPr>
            <a:r>
              <a:rPr lang="en-US" sz="9600" b="1" dirty="0" smtClean="0">
                <a:solidFill>
                  <a:srgbClr val="92D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/</a:t>
            </a:r>
            <a:r>
              <a:rPr lang="en-US" sz="9600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AP</a:t>
            </a:r>
            <a:r>
              <a:rPr lang="en-US" sz="9600" b="1" dirty="0" smtClean="0">
                <a:solidFill>
                  <a:srgbClr val="92D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/</a:t>
            </a:r>
            <a:r>
              <a:rPr lang="en-US" sz="9600" b="1" dirty="0" smtClean="0">
                <a:solidFill>
                  <a:srgbClr val="0070C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ERAPRT01.html</a:t>
            </a:r>
            <a:endParaRPr lang="en-US" sz="9600" b="1" dirty="0">
              <a:solidFill>
                <a:srgbClr val="0070C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Line Callout 2 4"/>
          <p:cNvSpPr/>
          <p:nvPr/>
        </p:nvSpPr>
        <p:spPr>
          <a:xfrm flipH="1">
            <a:off x="5465907" y="4552209"/>
            <a:ext cx="2041325" cy="505129"/>
          </a:xfrm>
          <a:prstGeom prst="borderCallout2">
            <a:avLst>
              <a:gd name="adj1" fmla="val 43435"/>
              <a:gd name="adj2" fmla="val 105689"/>
              <a:gd name="adj3" fmla="val 45492"/>
              <a:gd name="adj4" fmla="val 114153"/>
              <a:gd name="adj5" fmla="val -105748"/>
              <a:gd name="adj6" fmla="val 16674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30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รหัสโมดูล</a:t>
            </a:r>
            <a:endParaRPr lang="en-US" sz="3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Line Callout 2 5"/>
          <p:cNvSpPr/>
          <p:nvPr/>
        </p:nvSpPr>
        <p:spPr>
          <a:xfrm flipH="1">
            <a:off x="1922318" y="2531026"/>
            <a:ext cx="3543589" cy="53097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39391"/>
              <a:gd name="adj6" fmla="val -3662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30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รหัสโปรแกรม ตามด้วย </a:t>
            </a:r>
            <a:r>
              <a:rPr lang="en-US" sz="3000" dirty="0">
                <a:latin typeface="AngsanaUPC" panose="02020603050405020304" pitchFamily="18" charset="-34"/>
                <a:cs typeface="AngsanaUPC" panose="02020603050405020304" pitchFamily="18" charset="-34"/>
              </a:rPr>
              <a:t>“.html”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472786" y="1915340"/>
            <a:ext cx="2145723" cy="55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การกำหนด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Menu Path</a:t>
            </a:r>
          </a:p>
        </p:txBody>
      </p:sp>
      <p:pic>
        <p:nvPicPr>
          <p:cNvPr id="8" name="Picture 7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88" y="62505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8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Object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ต่างๆ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05297" y="1607698"/>
            <a:ext cx="7744343" cy="1190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Label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, Button, Message Alert 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ใน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หน้าต่างๆ</a:t>
            </a:r>
            <a:endParaRPr lang="en-US" sz="2400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0B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Module Code  +  Message Type 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+  “_” +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Menu Id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+ “_” + </a:t>
            </a:r>
            <a:r>
              <a:rPr lang="en-US" sz="2400" b="1" dirty="0">
                <a:solidFill>
                  <a:schemeClr val="accent3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Running Number 4 </a:t>
            </a:r>
            <a:r>
              <a:rPr lang="th-TH" sz="2400" b="1" dirty="0">
                <a:solidFill>
                  <a:schemeClr val="accent3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หลัก </a:t>
            </a:r>
          </a:p>
          <a:p>
            <a:pPr marL="0" indent="0">
              <a:buNone/>
            </a:pPr>
            <a:endParaRPr lang="en-US" sz="2400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 algn="ctr">
              <a:buNone/>
            </a:pP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372399" y="4039857"/>
            <a:ext cx="5496792" cy="147868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30ACEC">
                  <a:lumMod val="75000"/>
                </a:srgbClr>
              </a:buClr>
              <a:buNone/>
            </a:pPr>
            <a:r>
              <a:rPr lang="en-US" sz="9600" dirty="0" smtClean="0">
                <a:solidFill>
                  <a:srgbClr val="00B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APL</a:t>
            </a:r>
            <a:r>
              <a:rPr lang="en-US" sz="9600" dirty="0" smtClean="0">
                <a:solidFill>
                  <a:srgbClr val="D64787">
                    <a:lumMod val="75000"/>
                  </a:srgb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_</a:t>
            </a:r>
            <a:r>
              <a:rPr lang="en-US" sz="96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RT01</a:t>
            </a:r>
            <a:r>
              <a:rPr lang="en-US" sz="9600" dirty="0" smtClean="0">
                <a:solidFill>
                  <a:srgbClr val="D64787">
                    <a:lumMod val="75000"/>
                  </a:srgb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_</a:t>
            </a:r>
            <a:r>
              <a:rPr lang="en-US" sz="96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0001</a:t>
            </a:r>
            <a:endParaRPr lang="en-US" sz="9600" dirty="0">
              <a:solidFill>
                <a:schemeClr val="accent3">
                  <a:lumMod val="60000"/>
                  <a:lumOff val="40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Line Callout 2 5"/>
          <p:cNvSpPr/>
          <p:nvPr/>
        </p:nvSpPr>
        <p:spPr>
          <a:xfrm flipH="1">
            <a:off x="3146153" y="2699133"/>
            <a:ext cx="4488536" cy="1190977"/>
          </a:xfrm>
          <a:prstGeom prst="borderCallout2">
            <a:avLst>
              <a:gd name="adj1" fmla="val 50093"/>
              <a:gd name="adj2" fmla="val 104279"/>
              <a:gd name="adj3" fmla="val 50093"/>
              <a:gd name="adj4" fmla="val 114752"/>
              <a:gd name="adj5" fmla="val 124977"/>
              <a:gd name="adj6" fmla="val 12004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Module Code  + Message Type</a:t>
            </a:r>
          </a:p>
          <a:p>
            <a:pPr algn="ctr"/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Message Type Label = “L”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, Message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Type Button = “B” </a:t>
            </a:r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Message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Type Alert = “A”</a:t>
            </a:r>
          </a:p>
        </p:txBody>
      </p:sp>
      <p:sp>
        <p:nvSpPr>
          <p:cNvPr id="8" name="Line Callout 2 7"/>
          <p:cNvSpPr/>
          <p:nvPr/>
        </p:nvSpPr>
        <p:spPr>
          <a:xfrm flipH="1">
            <a:off x="2775161" y="5608971"/>
            <a:ext cx="1655684" cy="765809"/>
          </a:xfrm>
          <a:prstGeom prst="borderCallout2">
            <a:avLst>
              <a:gd name="adj1" fmla="val -12729"/>
              <a:gd name="adj2" fmla="val 42556"/>
              <a:gd name="adj3" fmla="val -13610"/>
              <a:gd name="adj4" fmla="val 20156"/>
              <a:gd name="adj5" fmla="val -94691"/>
              <a:gd name="adj6" fmla="val 3028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dirty="0">
                <a:latin typeface="AngsanaUPC" panose="02020603050405020304" pitchFamily="18" charset="-34"/>
                <a:cs typeface="AngsanaUPC" panose="02020603050405020304" pitchFamily="18" charset="-34"/>
              </a:rPr>
              <a:t>Menu Id</a:t>
            </a:r>
          </a:p>
        </p:txBody>
      </p:sp>
      <p:sp>
        <p:nvSpPr>
          <p:cNvPr id="9" name="Line Callout 2 8"/>
          <p:cNvSpPr/>
          <p:nvPr/>
        </p:nvSpPr>
        <p:spPr>
          <a:xfrm flipH="1">
            <a:off x="5566795" y="5608971"/>
            <a:ext cx="2618737" cy="765809"/>
          </a:xfrm>
          <a:prstGeom prst="borderCallout2">
            <a:avLst>
              <a:gd name="adj1" fmla="val -9855"/>
              <a:gd name="adj2" fmla="val 53852"/>
              <a:gd name="adj3" fmla="val -32638"/>
              <a:gd name="adj4" fmla="val 61685"/>
              <a:gd name="adj5" fmla="val -73509"/>
              <a:gd name="adj6" fmla="val 7757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50" dirty="0">
                <a:latin typeface="AngsanaUPC" panose="02020603050405020304" pitchFamily="18" charset="-34"/>
                <a:cs typeface="AngsanaUPC" panose="02020603050405020304" pitchFamily="18" charset="-34"/>
              </a:rPr>
              <a:t>Running Number</a:t>
            </a:r>
          </a:p>
        </p:txBody>
      </p:sp>
    </p:spTree>
    <p:extLst>
      <p:ext uri="{BB962C8B-B14F-4D97-AF65-F5344CB8AC3E}">
        <p14:creationId xmlns:p14="http://schemas.microsoft.com/office/powerpoint/2010/main" val="2500742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Object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ต่างๆ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1956435"/>
            <a:ext cx="7955280" cy="406908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 Label, Button, Message Alert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ส่วนกลางที่ใช้ร่วมกัน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การตั้งชื่อนั้นจะใช้ 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 algn="ctr">
              <a:buNone/>
            </a:pPr>
            <a:r>
              <a:rPr lang="en-US" sz="3600" b="1" dirty="0" smtClean="0">
                <a:solidFill>
                  <a:srgbClr val="00B0F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“ST” </a:t>
            </a:r>
            <a:r>
              <a:rPr lang="en-US" sz="3600" b="1" dirty="0" smtClean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+ Message Type </a:t>
            </a:r>
            <a:r>
              <a:rPr lang="en-US" sz="36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+ “</a:t>
            </a:r>
            <a:r>
              <a:rPr lang="en-US" sz="3600" b="1" dirty="0" smtClean="0">
                <a:solidFill>
                  <a:schemeClr val="accent2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_</a:t>
            </a:r>
            <a:r>
              <a:rPr lang="en-US" sz="36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” + </a:t>
            </a:r>
            <a:r>
              <a:rPr lang="en-US" sz="3600" b="1" dirty="0" smtClean="0">
                <a:solidFill>
                  <a:srgbClr val="00B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Running number 4 </a:t>
            </a:r>
            <a:r>
              <a:rPr lang="th-TH" sz="3600" b="1" dirty="0" smtClean="0">
                <a:solidFill>
                  <a:srgbClr val="00B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หลัก </a:t>
            </a:r>
            <a:endParaRPr lang="en-US" sz="3600" b="1" dirty="0" smtClean="0">
              <a:solidFill>
                <a:srgbClr val="00B05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dirty="0" smtClean="0">
                <a:solidFill>
                  <a:srgbClr val="00B0F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ST</a:t>
            </a:r>
            <a:r>
              <a:rPr lang="en-US" dirty="0" smtClean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L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_</a:t>
            </a:r>
            <a:r>
              <a:rPr lang="en-US" dirty="0" smtClean="0">
                <a:solidFill>
                  <a:srgbClr val="00B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0001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dirty="0" smtClean="0">
                <a:solidFill>
                  <a:srgbClr val="00B0F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ST</a:t>
            </a:r>
            <a:r>
              <a:rPr lang="en-US" dirty="0" smtClean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B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_</a:t>
            </a:r>
            <a:r>
              <a:rPr lang="en-US" dirty="0" smtClean="0">
                <a:solidFill>
                  <a:srgbClr val="00B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0001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dirty="0" smtClean="0">
                <a:solidFill>
                  <a:srgbClr val="00B0F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ST</a:t>
            </a:r>
            <a:r>
              <a:rPr lang="en-US" dirty="0" smtClean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_</a:t>
            </a:r>
            <a:r>
              <a:rPr lang="en-US" dirty="0" smtClean="0">
                <a:solidFill>
                  <a:srgbClr val="00B05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0001</a:t>
            </a:r>
          </a:p>
          <a:p>
            <a:pPr marL="0" indent="0">
              <a:buNone/>
            </a:pP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00963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Object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ต่างๆ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886084"/>
            <a:ext cx="7955280" cy="4069080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22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5. Message type </a:t>
            </a:r>
            <a:r>
              <a:rPr lang="th-TH" sz="22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เป็นการนำรหัสโมดูลมาต่อด้วย </a:t>
            </a:r>
            <a:r>
              <a:rPr lang="en-US" sz="22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Type </a:t>
            </a:r>
            <a:r>
              <a:rPr lang="th-TH" sz="22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ดังนี้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ถ้าเป็น 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Label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จะได้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APL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ได้จาก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AP + L</a:t>
            </a:r>
            <a:b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-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ถ้าเป็น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Button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จะได้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APB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ได้จาก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AP + B</a:t>
            </a:r>
            <a:b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-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ถ้าเป็น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Message Alert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จะได้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APA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ได้จาก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AP + A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จะเก็บไว้ใน คอลัมน์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MESSAGE_TYPE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58" y="3950528"/>
            <a:ext cx="8744883" cy="89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2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การตั้งรหัส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Object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ต่างๆ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563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6. Message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เมื่อได้ รหัส ของ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Label, Button,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M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essage Alert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แล้ว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สามารถกำหนด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Label, Button, Message Alert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ให้มีหลายภาษาได้ ตาม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LIN_ID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ที่มีการบันทึกไว้ในระบบ และจะถูก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Insert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เข้าที่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: SU_MESSAGE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20" y="3262161"/>
            <a:ext cx="8513758" cy="497061"/>
          </a:xfrm>
          <a:prstGeom prst="rect">
            <a:avLst/>
          </a:prstGeom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628650" y="3956766"/>
            <a:ext cx="2966605" cy="55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และ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: SU_MESSAGE_DET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84" y="4560617"/>
            <a:ext cx="8430631" cy="550011"/>
          </a:xfrm>
          <a:prstGeom prst="rect">
            <a:avLst/>
          </a:prstGeom>
        </p:spPr>
      </p:pic>
      <p:pic>
        <p:nvPicPr>
          <p:cNvPr id="7" name="Picture 6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1588" y="62505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71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 Parameter Table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: DB_PARAMETER 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มี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PK 3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 ตัว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PGM_SETUP, 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PARAMETER_NAME,  PARAMETER_VALUE</a:t>
            </a:r>
          </a:p>
          <a:p>
            <a:pPr marL="0" indent="0">
              <a:buNone/>
            </a:pP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มีการเก็บค่า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F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ield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ต่างๆ ใน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Database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ดังนี้</a:t>
            </a:r>
            <a:endParaRPr lang="th-TH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840795"/>
              </p:ext>
            </p:extLst>
          </p:nvPr>
        </p:nvGraphicFramePr>
        <p:xfrm>
          <a:off x="1056409" y="2976418"/>
          <a:ext cx="6404264" cy="330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884218"/>
                <a:gridCol w="4520046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PGM_SETUP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ใช้เก็บข้อมูลโมดูลที่ใช้งาน</a:t>
                      </a:r>
                      <a:r>
                        <a:rPr lang="en-US" sz="1800" b="0" baseline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สามารถเก็บข้อมูลได้สูงสุด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15 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ตัวอักษร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PARAMETER_NAME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ใช้เก็บชื่อ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Parameter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สามารถเก็บข้อมูลได้สูงสุด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400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ตัวอักษร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PARAMETER_VALUE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ใช้เก็บค่าของ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Parameter 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กรณีเพิ่มหลายค่าให้ใช้เครื่องหมาย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“,”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ขั้น</a:t>
                      </a:r>
                      <a:endParaRPr lang="en-US" sz="1800" b="0" dirty="0" smtClean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  <a:p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สามารถเก็บข้อมูลได้สูงสุด 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800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ตัวอักษร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PARAMETER_DESC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ใช้เก็บคำอธิบายของ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Parameter 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สามารถเก็บข้อมูลได้สูงสุด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4000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ตัวอักษร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REMARK 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ใช้เก็บคำอธิบายเช่น ใช้โมดูลไหน หน้าใด ใช้ทำอะไรเป็นต้น</a:t>
                      </a:r>
                    </a:p>
                    <a:p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สามารถเก็บข้อมูลได้สูงสุด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4000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ตัวอักษร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ORDER_SEQ</a:t>
                      </a:r>
                      <a:endParaRPr lang="en-US" b="0" dirty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ใช้เป็นตัวจัดลำดับการแสดงข้อมูลของ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Parameter 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ให้เรียงลำดับของข้อมูลโดยเริ่มต้นที่ </a:t>
                      </a:r>
                      <a:r>
                        <a:rPr lang="en-US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 </a:t>
                      </a:r>
                      <a:r>
                        <a:rPr lang="th-TH" sz="1800" b="0" dirty="0" smtClean="0"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แล้วเพิ่มขึ้นตามลำดับ</a:t>
                      </a:r>
                      <a:endParaRPr lang="en-US" sz="1800" b="0" dirty="0" smtClean="0"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8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4. Parameter Table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ยกตัวอย่าง การดึงค่าของ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 Parameter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ขึ้นมาแสดง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(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ประเภท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การรับเงินและสถานะการรับ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เงิน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)</a:t>
            </a:r>
            <a:endParaRPr lang="th-TH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1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ตัวอย่างกรณี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ค่าเดียว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PARAMETER_NAME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= “TYPEOFRECEIVE”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ประเภทการรับเงิน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 descr="C:\Users\pattanachai_p\Desktop\Answer\5-28-2015 10-57-01 A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7977" y="3415146"/>
            <a:ext cx="7608045" cy="1801091"/>
          </a:xfrm>
          <a:prstGeom prst="rect">
            <a:avLst/>
          </a:prstGeom>
          <a:noFill/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441614" y="5461776"/>
            <a:ext cx="7934407" cy="5563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เช่น เมื่อทำการเลือก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PARAMETER_VALUE 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= C 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 DESCRIPTION  =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เงินสด</a:t>
            </a:r>
          </a:p>
        </p:txBody>
      </p:sp>
    </p:spTree>
    <p:extLst>
      <p:ext uri="{BB962C8B-B14F-4D97-AF65-F5344CB8AC3E}">
        <p14:creationId xmlns:p14="http://schemas.microsoft.com/office/powerpoint/2010/main" val="288323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4. Parameter Table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lvl="1">
              <a:spcBef>
                <a:spcPts val="1000"/>
              </a:spcBef>
            </a:pPr>
            <a:r>
              <a:rPr lang="th-TH" sz="22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 กรณี </a:t>
            </a:r>
            <a:r>
              <a:rPr lang="en-US" sz="2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 </a:t>
            </a:r>
            <a:r>
              <a:rPr lang="th-TH" sz="2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หลายค่า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2" descr="C:\Users\pattanachai_p\Desktop\Answer\5-28-2015 11-29-50 A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3727" y="2666999"/>
            <a:ext cx="7030224" cy="2715491"/>
          </a:xfrm>
          <a:prstGeom prst="rect">
            <a:avLst/>
          </a:prstGeom>
          <a:noFill/>
        </p:spPr>
      </p:pic>
      <p:sp>
        <p:nvSpPr>
          <p:cNvPr id="5" name="Content Placeholder 3"/>
          <p:cNvSpPr txBox="1">
            <a:spLocks/>
          </p:cNvSpPr>
          <p:nvPr/>
        </p:nvSpPr>
        <p:spPr>
          <a:xfrm>
            <a:off x="594360" y="5707315"/>
            <a:ext cx="7934407" cy="693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เช่น เมื่อเลือก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Parameter Value = C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Parameter Name = “TYPEOFRECEIVE”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ซึ่งตรงกับ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Parameter Value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Parameter Name “RECEIVEFIXSTATUS”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Parameter Description = R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ออกมา</a:t>
            </a:r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6" name="Picture 5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88" y="62505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32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Organization Code and Division Code</a:t>
            </a:r>
          </a:p>
          <a:p>
            <a:pPr lvl="1"/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Organization Code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หรือที่เรียกว่า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OU_CODE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รหัสองค์กร</a:t>
            </a: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1"/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OU_CODE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จะได้มาตอนที่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Login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เข้าใช้งาน</a:t>
            </a:r>
          </a:p>
          <a:p>
            <a:pPr lvl="1"/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Division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Code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รหัสหน่วยงาน  จะได้มาตอน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Login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เข้าใช้งาน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เช่นเดียวกับ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OU_CODE</a:t>
            </a:r>
          </a:p>
          <a:p>
            <a:pPr marL="457200" lvl="1" indent="0">
              <a:buNone/>
            </a:pPr>
            <a:endParaRPr lang="th-TH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9234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CR_BY, CR_DATE, PROG_ID, UPD_BY, UPD_DATE,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UPD_PROG_ID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CR_BY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รหัสผู้ใช้งานที่สร้างข้อมูลโดยใคร จะกำหนดความยาวเท่ากับ 20 ตัวอักษร และประเภทข้อมูลเป็น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VARCHAR2</a:t>
            </a:r>
          </a:p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CR_DATE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วัน เวลาที่สร้างข้อมูล ประเภทข้อมูลเป็น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Date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และจะเก็บในระดับของวันที่</a:t>
            </a:r>
          </a:p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PROG_ID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รหัสโปรแกรมที่สร้าง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ข้อมูลในการเพิ่มข้อมูลครั้งแรก </a:t>
            </a:r>
          </a:p>
          <a:p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Update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by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คือ รหัสผู้ใช้งานที่ปรับปรุง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ข้อมูลครั้งล่าสุด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จะกำหนดความยาวเท่ากับ 20 ตัวอักษร และ ประเภทข้อมูลเป็น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VARCHAR2</a:t>
            </a:r>
          </a:p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Update Date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คือ วัน เวลาที่ปรับปรุง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ข้อมูลครั้งล่าสุด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ประเภทข้อมูลจะเป็น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Date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 จะเก็บในระดับของวันที่ 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UPD_PROG_ID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ที่ปรับปรุง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ข้อมูลครั้งล่าสุด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25799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การแสดงข้อความ</a:t>
            </a:r>
          </a:p>
          <a:p>
            <a:pPr marL="228600" lvl="1">
              <a:spcBef>
                <a:spcPts val="1000"/>
              </a:spcBef>
            </a:pP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จะแสดงความยาวเท่ากับความยาวของข้อมูลใน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Database</a:t>
            </a:r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228600" lvl="1">
              <a:spcBef>
                <a:spcPts val="1000"/>
              </a:spcBef>
            </a:pP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ข้อความต้องแสดงชิดซ้าย</a:t>
            </a:r>
            <a:endParaRPr lang="en-US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ถ้าเป็น ชื่อ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Label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ให้แสดงชิดขวา</a:t>
            </a: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430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วันที่</a:t>
            </a:r>
            <a:endParaRPr lang="th-TH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228600" lvl="1">
              <a:spcBef>
                <a:spcPts val="1000"/>
              </a:spcBef>
            </a:pP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การแสดงวันที่ให้จัดกึ่งกลาง </a:t>
            </a:r>
          </a:p>
          <a:p>
            <a:pPr marL="228600" lvl="1">
              <a:spcBef>
                <a:spcPts val="1000"/>
              </a:spcBef>
            </a:pP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ในการแสดงวันที่ให้จัด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Format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DD/MM/YYY</a:t>
            </a: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0913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การแสดงตัวเลข</a:t>
            </a:r>
          </a:p>
          <a:p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ให้แสดงตัวเลขชิดขวา</a:t>
            </a:r>
          </a:p>
          <a:p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ผลรวมให้แสดงเป็นตัวหนา มี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, (comma)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คั่น และทศนิยม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ตำแหน่ง</a:t>
            </a:r>
          </a:p>
          <a:p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ถ้าเป็นยอดเงินจะต้องแสดงให้เห็นที่หลักพันล้านได้ เช่น 9,999,999,999.99</a:t>
            </a:r>
          </a:p>
          <a:p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10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Required Field</a:t>
            </a:r>
          </a:p>
          <a:p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Field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บังคับ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หรือ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Mandatory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F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ield</a:t>
            </a:r>
            <a:endParaRPr lang="en-US" sz="24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228600" lvl="1">
              <a:spcBef>
                <a:spcPts val="1000"/>
              </a:spcBef>
            </a:pP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Field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บังคับต้องกรอกข้อมูล </a:t>
            </a:r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228600" lvl="1">
              <a:spcBef>
                <a:spcPts val="1000"/>
              </a:spcBef>
            </a:pP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คอลัมน์ใน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Database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ถ้าเป็น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Primary Key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หรือ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Index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หรือ คอลัมน์ที่ไม่สามารถ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Save Null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ลงไปได้ ให้ถือว่าเป็น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Mandatory Field 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หรือ </a:t>
            </a:r>
            <a:r>
              <a:rPr lang="en-US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Required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Field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เสมอ</a:t>
            </a:r>
          </a:p>
          <a:p>
            <a:pPr marL="228600" lvl="1">
              <a:spcBef>
                <a:spcPts val="1000"/>
              </a:spcBef>
            </a:pP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Field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ไหนมีคุณสมบัติเป็น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Require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จะต้องใส่ </a:t>
            </a:r>
            <a:r>
              <a:rPr lang="en-US" sz="2400" dirty="0" smtClean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กำกับที่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Label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ของ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Field</a:t>
            </a:r>
            <a:r>
              <a:rPr lang="th-TH" sz="24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นั้นๆ</a:t>
            </a:r>
            <a:endParaRPr lang="en-US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9373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259" y="3669225"/>
            <a:ext cx="7955280" cy="3088035"/>
          </a:xfrm>
        </p:spPr>
        <p:txBody>
          <a:bodyPr>
            <a:noAutofit/>
          </a:bodyPr>
          <a:lstStyle/>
          <a:p>
            <a:pPr marL="514350" indent="-514350">
              <a:buNone/>
            </a:pP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1.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 </a:t>
            </a:r>
            <a:r>
              <a:rPr lang="en-US" sz="19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จัดอยู่ตำแหน่งกึ่งกลาง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และคำอธิบายของรหัส </a:t>
            </a:r>
            <a:r>
              <a:rPr lang="en-US" sz="19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จัดอยู่ตำแหน่งชิดซ้าย</a:t>
            </a:r>
          </a:p>
          <a:p>
            <a:pPr>
              <a:buNone/>
            </a:pP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2. </a:t>
            </a:r>
            <a:r>
              <a:rPr lang="en-US" sz="19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แสดงข้อมูล 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10 record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ต่อหน้า</a:t>
            </a:r>
          </a:p>
          <a:p>
            <a:pPr>
              <a:buNone/>
            </a:pP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3.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กำหนดความกว้างของ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P</a:t>
            </a:r>
            <a:r>
              <a:rPr lang="en-US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aging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ให้พอดีกับข้อมูลที่แสดง</a:t>
            </a:r>
          </a:p>
          <a:p>
            <a:pPr>
              <a:buNone/>
            </a:pP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4. </a:t>
            </a:r>
            <a:r>
              <a:rPr lang="en-US" sz="19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ที่ดึงค่าจาก </a:t>
            </a:r>
            <a:r>
              <a:rPr lang="en-US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Parameter Table </a:t>
            </a:r>
            <a:r>
              <a:rPr lang="th-TH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มา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จะต้องไม่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แสดงในรูปแบบ 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P</a:t>
            </a:r>
            <a:r>
              <a:rPr lang="en-US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aging</a:t>
            </a:r>
            <a:r>
              <a:rPr lang="th-TH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endParaRPr lang="th-TH" sz="19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>
              <a:buNone/>
            </a:pP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5.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ข้อมูลรหัสจะถูกเรียงลำดับจากน้อย</a:t>
            </a:r>
            <a:r>
              <a:rPr lang="th-TH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ไปมาก</a:t>
            </a:r>
            <a:endParaRPr lang="en-US" sz="19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เมื่อ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กรอกรหัสหรือตัวอักษรลงใน </a:t>
            </a:r>
            <a:r>
              <a:rPr lang="en-US" sz="19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จะทำการค้นหาข้อมูลรหัสและคำอธิบายตรงกับตัวอักษรที่กรอก</a:t>
            </a:r>
            <a:r>
              <a:rPr lang="th-TH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ลงไป</a:t>
            </a:r>
            <a:endParaRPr lang="en-US" sz="19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7</a:t>
            </a:r>
            <a:r>
              <a:rPr lang="en-US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  <a:r>
              <a:rPr lang="th-TH" sz="19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คำอธิบาย 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(Description Field)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จะไม่สามารถแก้ได้ 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(Read Only Field)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และมีพื้นหลัง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 Text Field 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เป็นสีเทา 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(</a:t>
            </a:r>
            <a:r>
              <a:rPr lang="th-TH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รหัสสี </a:t>
            </a:r>
            <a:r>
              <a:rPr lang="en-US" sz="1900" dirty="0">
                <a:latin typeface="AngsanaUPC" panose="02020603050405020304" pitchFamily="18" charset="-34"/>
                <a:cs typeface="AngsanaUPC" panose="02020603050405020304" pitchFamily="18" charset="-34"/>
              </a:rPr>
              <a:t>: #CCCCCC</a:t>
            </a:r>
            <a:r>
              <a:rPr lang="en-US" sz="2000" dirty="0"/>
              <a:t> )</a:t>
            </a:r>
            <a:endParaRPr lang="th-TH" sz="19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th-TH" sz="19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2" descr="C:\Users\pattanachai_p\Desktop\Amazon Picture\Combobox\5-21-2015 9-59-01 AM.png"/>
          <p:cNvPicPr>
            <a:picLocks noChangeAspect="1" noChangeArrowheads="1"/>
          </p:cNvPicPr>
          <p:nvPr/>
        </p:nvPicPr>
        <p:blipFill rotWithShape="1">
          <a:blip r:embed="rId2"/>
          <a:srcRect t="11544" r="5258" b="15093"/>
          <a:stretch/>
        </p:blipFill>
        <p:spPr bwMode="auto">
          <a:xfrm>
            <a:off x="1832265" y="2069026"/>
            <a:ext cx="4838700" cy="1600200"/>
          </a:xfrm>
          <a:prstGeom prst="rect">
            <a:avLst/>
          </a:prstGeom>
          <a:noFill/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94360" y="1758338"/>
            <a:ext cx="7955280" cy="621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Expected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8815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94360" y="2057401"/>
            <a:ext cx="7955280" cy="621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From - To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4840" y="2576947"/>
            <a:ext cx="7924800" cy="405244"/>
          </a:xfrm>
        </p:spPr>
        <p:txBody>
          <a:bodyPr>
            <a:normAutofit/>
          </a:bodyPr>
          <a:lstStyle/>
          <a:p>
            <a:pPr marL="514350" indent="-514350" algn="thaiDist">
              <a:buNone/>
            </a:pP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ComboBox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รหัสสกุลเงินตั้งแต่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จะแสดงข้อมูลทั้งหมดในกรณีที่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ComboBox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รหัสสกุลเงินถึงยังไม่ถูกเลือก</a:t>
            </a:r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514350" indent="-514350">
              <a:buNone/>
            </a:pPr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514350" indent="-514350">
              <a:buNone/>
            </a:pPr>
            <a:endParaRPr lang="th-TH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Picture 3" descr="C:\Users\pattanachai_p\Desktop\Answer\5-22-2015 4-53-55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4840" y="3198323"/>
            <a:ext cx="8317517" cy="28076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82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94360" y="2057401"/>
            <a:ext cx="7955280" cy="621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From - To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4840" y="2576947"/>
            <a:ext cx="7924800" cy="405244"/>
          </a:xfrm>
        </p:spPr>
        <p:txBody>
          <a:bodyPr>
            <a:normAutofit/>
          </a:bodyPr>
          <a:lstStyle/>
          <a:p>
            <a:pPr marL="514350" indent="-514350" algn="thaiDist">
              <a:buNone/>
            </a:pP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2. </a:t>
            </a:r>
            <a:r>
              <a:rPr lang="en-US" sz="2000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รหัส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สกุลเงินถึงจะแสดงข้อมูลทั้งหมด ในกรณีที่ </a:t>
            </a:r>
            <a:r>
              <a:rPr lang="en-US" sz="20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รหัสสกุลเงินตั้งแต่  ยังไม่ได้ถูกเลือก</a:t>
            </a:r>
          </a:p>
          <a:p>
            <a:pPr marL="514350" indent="-514350">
              <a:buNone/>
            </a:pPr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514350" indent="-514350">
              <a:buNone/>
            </a:pPr>
            <a:endParaRPr lang="th-TH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8" name="Picture 2" descr="C:\Users\pattanachai_p\Desktop\Answer\5-22-2015 4-58-33 PM.png"/>
          <p:cNvPicPr>
            <a:picLocks noChangeAspect="1" noChangeArrowheads="1"/>
          </p:cNvPicPr>
          <p:nvPr/>
        </p:nvPicPr>
        <p:blipFill rotWithShape="1">
          <a:blip r:embed="rId2"/>
          <a:srcRect b="16757"/>
          <a:stretch/>
        </p:blipFill>
        <p:spPr bwMode="auto">
          <a:xfrm>
            <a:off x="624840" y="3103418"/>
            <a:ext cx="8180269" cy="26496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788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94360" y="2057401"/>
            <a:ext cx="7955280" cy="621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From - To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8" name="Picture 3" descr="C:\Users\pattanachai_p\Desktop\Answer\5-22-2015 5-08-06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7325" y="3264704"/>
            <a:ext cx="8356507" cy="2832162"/>
          </a:xfrm>
          <a:prstGeom prst="rect">
            <a:avLst/>
          </a:prstGeom>
          <a:noFill/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624109" y="2525192"/>
            <a:ext cx="8282941" cy="9788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thaiDist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 ใน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กรณีที่ 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รหัส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สกุลเงินถึงถูกเลือก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รหัสสกุลเงินตั้งแต่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จะแสดงข้อมูล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ตั้งแต่เริ่มต้น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จนถึงข้อมูล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รหัสสกุลเงินถึงเลือก</a:t>
            </a:r>
          </a:p>
        </p:txBody>
      </p:sp>
    </p:spTree>
    <p:extLst>
      <p:ext uri="{BB962C8B-B14F-4D97-AF65-F5344CB8AC3E}">
        <p14:creationId xmlns:p14="http://schemas.microsoft.com/office/powerpoint/2010/main" val="125859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การพัฒนาโปรแกรมพื้นฐาน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94360" y="2057401"/>
            <a:ext cx="7955280" cy="6213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From - To</a:t>
            </a:r>
            <a:endParaRPr lang="en-US" sz="24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24839" y="2576946"/>
            <a:ext cx="8321733" cy="773483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 4. ในกรณีที่ </a:t>
            </a:r>
            <a:r>
              <a:rPr lang="en-US" sz="20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รหัสสกุลเงินตั้งแต่ถูกเลือก </a:t>
            </a:r>
            <a:r>
              <a:rPr lang="en-US" sz="20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รหัสสกุลเงินถึง จะแสดงข้อมูลตั้งแต่ข้อมูลที่ </a:t>
            </a:r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514350" indent="-514350">
              <a:buNone/>
            </a:pPr>
            <a:r>
              <a:rPr lang="en-US" sz="2000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ComboBox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รหัสสกุลเงินตั้งแต่เลือกไปจนถึงลำดับสุดท้าย</a:t>
            </a:r>
          </a:p>
        </p:txBody>
      </p:sp>
      <p:pic>
        <p:nvPicPr>
          <p:cNvPr id="8" name="Picture 2" descr="C:\Users\pattanachai_p\Desktop\Answer\5-22-2015 5-06-04 PM.png"/>
          <p:cNvPicPr>
            <a:picLocks noChangeAspect="1" noChangeArrowheads="1"/>
          </p:cNvPicPr>
          <p:nvPr/>
        </p:nvPicPr>
        <p:blipFill rotWithShape="1">
          <a:blip r:embed="rId2"/>
          <a:srcRect b="18492"/>
          <a:stretch/>
        </p:blipFill>
        <p:spPr bwMode="auto">
          <a:xfrm>
            <a:off x="594360" y="3435928"/>
            <a:ext cx="8383464" cy="2602922"/>
          </a:xfrm>
          <a:prstGeom prst="rect">
            <a:avLst/>
          </a:prstGeom>
          <a:noFill/>
        </p:spPr>
      </p:pic>
      <p:pic>
        <p:nvPicPr>
          <p:cNvPr id="7" name="Picture 6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88" y="62505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75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จัดทำหน้าจอ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เงื่อนไขการค้นหาวันที่</a:t>
            </a:r>
          </a:p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เงื่อนไขการค้นหาตามเลขที่เอกสาร</a:t>
            </a:r>
          </a:p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เงื่อนไขการค้นหาสถานะเอกสาร</a:t>
            </a:r>
          </a:p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เงื่อนไขการค้นหาอื่นๆ</a:t>
            </a:r>
          </a:p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กรณีไม่มีข้อมูลในฐานข้อมูล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9581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2296" indent="0">
              <a:buNone/>
            </a:pP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เงื่อนไขการค้นหาวันที่ มี 4 เงื่อนไข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ดังนี้</a:t>
            </a:r>
          </a:p>
          <a:p>
            <a:pPr marL="82296" indent="0">
              <a:buNone/>
            </a:pP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1.ไม่ได้ระบุวันที่ตั้งแต่ และไม่ได้ระบุวันที่ถึง</a:t>
            </a:r>
          </a:p>
          <a:p>
            <a:pPr marL="82296" indent="0">
              <a:buNone/>
            </a:pP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2.ระบุวันที่ตั้งแต่ และไม่ได้ระบุวันที่ถึง</a:t>
            </a:r>
          </a:p>
          <a:p>
            <a:pPr marL="82296" indent="0">
              <a:buNone/>
            </a:pP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3.ไม่ได้ระบุวันที่ตั้งแต่ และระบุวันที่ถึง</a:t>
            </a:r>
          </a:p>
          <a:p>
            <a:pPr marL="82296" indent="0">
              <a:buNone/>
            </a:pPr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4.ระบุวันที่ตั้งแต่ และระบุวันที่ถึง</a:t>
            </a:r>
            <a:endParaRPr lang="en-US" sz="21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82296" indent="0">
              <a:buNone/>
            </a:pPr>
            <a:endParaRPr lang="en-US" sz="21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25196" indent="-342900"/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การระบุวันที่ตั้งแต่ จะต้องน้อยกว่าวันที่ถึง</a:t>
            </a:r>
          </a:p>
          <a:p>
            <a:pPr marL="425196" indent="-342900"/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การแสดงผลข้อมูล จะแสดงข้อมูลเอกสารจากมากไปน้อย</a:t>
            </a:r>
          </a:p>
          <a:p>
            <a:pPr marL="425196" indent="-342900"/>
            <a:r>
              <a:rPr lang="th-TH" sz="21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การค้นหาวันที่ เมื่อระบุวันที่ กรณีไม่พบข้อมูลในฐานข้อมูลระบบจะแสดง กล่องข้อความแจ้งเตือนว่า “ไม่พบข้อมูล”</a:t>
            </a:r>
            <a:endParaRPr lang="th-TH" sz="21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650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1.ไม่ได้ระบุวันที่ตั้งแต่ และไม่ได้ระบุวันที่ถึง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2" r="1520" b="2671"/>
          <a:stretch/>
        </p:blipFill>
        <p:spPr>
          <a:xfrm>
            <a:off x="716973" y="2578668"/>
            <a:ext cx="8021782" cy="41650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30003" y="3032367"/>
            <a:ext cx="3836015" cy="2303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2083789" y="2692081"/>
            <a:ext cx="2557099" cy="1537019"/>
          </a:xfrm>
          <a:prstGeom prst="roundRect">
            <a:avLst/>
          </a:prstGeom>
          <a:solidFill>
            <a:srgbClr val="F5DE9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ผลลัพธ์ที่</a:t>
            </a:r>
            <a:r>
              <a:rPr lang="th-TH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 โปรแกรมจะค้นหาวันที่  ที่มีทั้งหมดใน</a:t>
            </a:r>
            <a:r>
              <a:rPr lang="th-TH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ฐานข้อมูล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1415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2.ระบุวันที่ตั้งแต่ และไม่ได้ระบุวันที่ถึง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9" r="1476" b="3862"/>
          <a:stretch/>
        </p:blipFill>
        <p:spPr>
          <a:xfrm>
            <a:off x="685799" y="2612591"/>
            <a:ext cx="7974897" cy="41622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305761" y="2612591"/>
            <a:ext cx="2367486" cy="1283134"/>
          </a:xfrm>
          <a:prstGeom prst="roundRect">
            <a:avLst/>
          </a:prstGeom>
          <a:solidFill>
            <a:srgbClr val="F5DE9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ผลลัพธ์ที่ได้ โปรแกรมจะค้นหาวันที่ ตั้งแต่วันที่ระบุถึงสิ้นสุด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72560" y="3038186"/>
            <a:ext cx="3777079" cy="2603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518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3.ไม่ได้ระบุวันที่ตั้งแต่ และระบุวันที่ถึง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" t="803" r="1289" b="3578"/>
          <a:stretch/>
        </p:blipFill>
        <p:spPr>
          <a:xfrm>
            <a:off x="550717" y="2544907"/>
            <a:ext cx="7944563" cy="432261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1999" y="3008745"/>
            <a:ext cx="3834245" cy="254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967276" y="2555742"/>
            <a:ext cx="2444517" cy="1414006"/>
          </a:xfrm>
          <a:prstGeom prst="roundRect">
            <a:avLst/>
          </a:prstGeom>
          <a:solidFill>
            <a:srgbClr val="F5DE9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ผลลัพธ์ที่ได้ โปรแกรมจะค้นหาวันที่ ตั้งแต่วันที่ เริ่มต้น ถึงวันที่ระบุ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5119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4.ระบุวันที่ตั้งแต่ และระบุวันที่ถึง(กรณีพบข้อมูล)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" r="1409" b="4942"/>
          <a:stretch/>
        </p:blipFill>
        <p:spPr>
          <a:xfrm>
            <a:off x="436419" y="2572818"/>
            <a:ext cx="8198426" cy="42851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609930" y="3022452"/>
            <a:ext cx="3939710" cy="2551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52110" y="2572818"/>
            <a:ext cx="2557965" cy="1235340"/>
          </a:xfrm>
          <a:prstGeom prst="roundRect">
            <a:avLst/>
          </a:prstGeom>
          <a:solidFill>
            <a:srgbClr val="F5DE9D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ผลลัพธ์ที่ได้ โปรแกรมจะค้นหาวันที่ ระหว่างวันที่ระบุถึงวันที่ระบุ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69170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4.ระบุวันที่ตั้งแต่ และระบุวันที่ถึง(ต่อ)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กรณี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ระบุวันที่ตั้งแต่ และไประบุวันที่ถึง การแสดงผลในวันที่ถึง วันที่ ที่น้อยกว่าวันที่ตั้งแต่จะถูก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Disable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354"/>
          <a:stretch/>
        </p:blipFill>
        <p:spPr>
          <a:xfrm>
            <a:off x="1658407" y="3449760"/>
            <a:ext cx="6662151" cy="315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88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4.ระบุวันที่ตั้งแต่ และระบุวันที่ถึง(ต่อ)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กรณี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ระบุวันที่ถึง และไประบุวันที่ตั้งแต่ การแสดงผลในวันที่ตั้งแต่ วันที่ ที่มากกว่าวันที่ถึงจะถูก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Disable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18"/>
          <a:stretch/>
        </p:blipFill>
        <p:spPr>
          <a:xfrm>
            <a:off x="1593982" y="3433502"/>
            <a:ext cx="6719840" cy="332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770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เงื่อนไขการค้นหาตามเลขที่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82296" indent="0">
              <a:buNone/>
            </a:pPr>
            <a:r>
              <a:rPr lang="th-TH" b="1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เงื่อนไขการค้นหาเลขที่เอกสารมี 4 </a:t>
            </a:r>
            <a:r>
              <a:rPr lang="th-TH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 ดังนี้</a:t>
            </a:r>
            <a:endParaRPr lang="th-TH" b="1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539496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1.ไม่ได้ระบุเลขที่เอกสารตั้งแต่ และไม่ได้ระบุเลขที่เอกสารถึง</a:t>
            </a:r>
          </a:p>
          <a:p>
            <a:pPr marL="539496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2.ระบุเลขที่เอกสารตั้งแต่ และไม่ได้ระบุเลขที่เอกสารถึง</a:t>
            </a:r>
          </a:p>
          <a:p>
            <a:pPr marL="539496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3.ไม่ได้ระบุเลขที่เอกสารตั้งแต่ และระบุเลขที่เอกสารถึง</a:t>
            </a:r>
          </a:p>
          <a:p>
            <a:pPr marL="539496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4.ระบุเลขที่เอกสารตั้งแต่ และระบุเลขที่เอกสารถึง</a:t>
            </a:r>
          </a:p>
          <a:p>
            <a:pPr marL="457200" lvl="1" indent="0">
              <a:buNone/>
            </a:pP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การระบุเลขที่เอกสารตั้งแต่ จะต้องน้อยกว่าเลขที่เอกสารถึง</a:t>
            </a:r>
          </a:p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การแสดงผลข้อมูล จะแสดงข้อมูลเอกสารจากมากไปน้อย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36792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1.ไม่ได้ระบุเลขที่เอกสารตั้งแต่ และไม่ได้ระบุเลขที่เอกสารถึง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2597647"/>
            <a:ext cx="8255470" cy="426035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2643" y="3023937"/>
            <a:ext cx="4000314" cy="2642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04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2.ระบุเลขที่เอกสารตั้งแต่ และไม่ได้ระบุเลขที่เอกสารถึง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2643155"/>
            <a:ext cx="7852595" cy="41354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97506" y="3073367"/>
            <a:ext cx="3764012" cy="2505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60670" y="2952333"/>
            <a:ext cx="2473948" cy="1648242"/>
          </a:xfrm>
          <a:prstGeom prst="roundRect">
            <a:avLst/>
          </a:prstGeom>
          <a:solidFill>
            <a:srgbClr val="E6E1D5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ผลลัพธ์ที่ได้ โปรแกรมจะค้นหาเลขที่เอกสารตั้งแต่เลขที่ระบุ ถึงเลขที่เอกสาร</a:t>
            </a:r>
            <a:r>
              <a:rPr lang="th-TH" sz="2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สิ้นสุด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3806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3.ไม่ได้ระบุเลขที่เอกสารตั้งแต่ และระบุเลขที่เอกสารถึง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2637641"/>
            <a:ext cx="7893191" cy="41409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29316" y="3084898"/>
            <a:ext cx="3877809" cy="2045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289262" y="3005522"/>
            <a:ext cx="2516151" cy="1566478"/>
          </a:xfrm>
          <a:prstGeom prst="roundRect">
            <a:avLst/>
          </a:prstGeom>
          <a:solidFill>
            <a:srgbClr val="E6E1D5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ผลลัพธ์ที่ได้ โปรแกรมจะค้นหาเลขที่เอกสารตั้งแต่เริ่มต้นถึงเลขที่เอกสารที่ระบุ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5553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4.ระบุเลขที่เอกสารตั้งแต่ และระบุเลขที่เอกสารถึง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2695369"/>
            <a:ext cx="7815712" cy="416263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64523" y="3118563"/>
            <a:ext cx="3789188" cy="3089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15130" y="2816224"/>
            <a:ext cx="2271545" cy="1745875"/>
          </a:xfrm>
          <a:prstGeom prst="roundRect">
            <a:avLst/>
          </a:prstGeom>
          <a:solidFill>
            <a:srgbClr val="E6E1D5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ผลลัพธ์ที่ได้ โปรแกรมจะค้นหาเลขที่เอกสารตั้งแต่ระบุถึงเลขที่เอกสารที่ระบุ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0494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4.ระบุเอกสารตั้งแต่ และระบุเอกสารถึง(ต่อ)</a:t>
            </a:r>
            <a:endParaRPr lang="en-US" dirty="0" smtClean="0"/>
          </a:p>
          <a:p>
            <a:r>
              <a:rPr lang="th-TH" dirty="0" smtClean="0"/>
              <a:t>กรณี</a:t>
            </a:r>
            <a:r>
              <a:rPr lang="th-TH" dirty="0"/>
              <a:t>ระบุเลขที่เอกสารตั้งแต่ และไประบุเลขที่เอกสารถึงการแสดงผลในเลขที่เอกสารถึง จะแสดงเลขที่เอกสาร มากกว่าหรือเท่ากับเลขที่เอกสารที่ระบุ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255" y="3410098"/>
            <a:ext cx="7410995" cy="309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27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4.ระบุเอกสารตั้งแต่ และระบุเอกสารถึง(ต่อ)</a:t>
            </a:r>
            <a:endParaRPr lang="en-US" dirty="0" smtClean="0"/>
          </a:p>
          <a:p>
            <a:r>
              <a:rPr lang="th-TH" dirty="0" smtClean="0"/>
              <a:t>กรณี</a:t>
            </a:r>
            <a:r>
              <a:rPr lang="th-TH" dirty="0"/>
              <a:t>ระบุเลขที่เอกสารถึง และไประบุเลขที่เอกสารตั้งแต่ การแสดงผลเลขที่เอกสารตั้งแต่ จะแสดงเลขที่เอกสาร น้อย</a:t>
            </a:r>
            <a:r>
              <a:rPr lang="th-TH" dirty="0" smtClean="0"/>
              <a:t>กว่า</a:t>
            </a:r>
            <a:endParaRPr lang="th-T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246" y="3511259"/>
            <a:ext cx="5583480" cy="321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เงื่อนไขการค้นหาจากสถานะเอกสาร</a:t>
            </a:r>
          </a:p>
          <a:p>
            <a:pPr lvl="1"/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การนำ สถานะ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เอกสารมาใช้ในการค้นหา ต้อง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ดึงค่ามา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จาก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Parameter</a:t>
            </a:r>
          </a:p>
          <a:p>
            <a:pPr lvl="1"/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กรณีไม่ได้ระบุสถานะในการค้นหา ระบบจะทำการค้นหาสถานะเอกสาร ทุกสถานะมาแสดง</a:t>
            </a:r>
          </a:p>
          <a:p>
            <a:pPr lvl="1"/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เอกสารที่แสดงต้อง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แสดงจาก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มากไปน้อย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296069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เงื่อนไขกา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รค้นหา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อื่นๆ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เลือกประเภทเอกสาร เลือกรหัสเจ้าหนี้ การแสดงผลของรหัสเจ้าหนี้ จะแสดงเจ้าหนี้ของประเภทเอกสารที่เลือก และเลขที่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เอกสารจะ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แสดงเฉพาะประเภทเอกสารที่เลือก </a:t>
            </a: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หมายเหตุ</a:t>
            </a:r>
          </a:p>
          <a:p>
            <a:pPr marL="0" indent="0">
              <a:buNone/>
            </a:pPr>
            <a:r>
              <a:rPr lang="th-TH" dirty="0" smtClean="0">
                <a:solidFill>
                  <a:srgbClr val="FF0000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ค้นหาจากหน้าค้นหาใน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Daily Transaction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เช่น รหัสเจ้าหนี้หรือลูกหนี้ ข้อมูลที่มาแสดงใน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Combo box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จะดึงข้อมูลที่ถูกบันทึกในฐานข้อมูล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133724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6.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การจัดทำหน้าจอค้นหา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207260"/>
            <a:ext cx="7955280" cy="4069080"/>
          </a:xfrm>
        </p:spPr>
        <p:txBody>
          <a:bodyPr/>
          <a:lstStyle/>
          <a:p>
            <a:r>
              <a:rPr lang="th-TH" dirty="0"/>
              <a:t>กรณีไม่มีข้อมูลใน</a:t>
            </a:r>
            <a:r>
              <a:rPr lang="th-TH" dirty="0" smtClean="0"/>
              <a:t>ฐานข้อมูล</a:t>
            </a:r>
            <a:endParaRPr lang="en-US" dirty="0" smtClean="0"/>
          </a:p>
          <a:p>
            <a:pPr marL="0" indent="0">
              <a:buNone/>
            </a:pPr>
            <a:r>
              <a:rPr lang="th-TH" dirty="0"/>
              <a:t>กรณีค้นหาข้อมูล และไม่มีข้อมูลในฐานข้อมูล ระบบจะ</a:t>
            </a:r>
            <a:r>
              <a:rPr lang="th-TH" dirty="0" smtClean="0"/>
              <a:t>แสดงข้อความแจ้งเตือน </a:t>
            </a:r>
            <a:r>
              <a:rPr lang="th-TH" dirty="0"/>
              <a:t>“ไม่พบข้อมูล”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95" y="3210344"/>
            <a:ext cx="8090721" cy="3394994"/>
          </a:xfrm>
          <a:prstGeom prst="rect">
            <a:avLst/>
          </a:prstGeom>
        </p:spPr>
      </p:pic>
      <p:pic>
        <p:nvPicPr>
          <p:cNvPr id="5" name="Picture 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88" y="62505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09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หน้าจอ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Master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1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endParaRPr lang="th-TH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 หน้าจอ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Master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endParaRPr lang="th-TH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หน้าจอ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Transaction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+ 1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</a:t>
            </a:r>
            <a:endParaRPr lang="th-TH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.การแสดงผลรวมของยอดเงินในหน้าจอ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Transaction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81232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8549640" cy="4491990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หน้าจอ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Master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1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endParaRPr lang="th-TH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CheckBoxSelectionModel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ต้องอยู่คอลัมน์แรก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Header Column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ต้องจัดอยู่กึ่งกลางเสมอ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Top Toolbar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 ปุ่ม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add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และ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Remove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สำหรับ เพิ่มข้อมูล และ ลบข้อมูลใน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Record</a:t>
            </a:r>
            <a:b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Grid button Toolbar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จะต้องเป็น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Paging Grid</a:t>
            </a:r>
            <a:b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ข้อมูลในคอลัมน์ ถ้าเป็น ตัวอักษร จะต้องชิดซ้าย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ข้อมูลในคอลัมน์ ถ้าเป็น ตัวเลขจะต้องชิดขวาข้อมูลในคอลัมน์ ถ้าเป็น วันที่ จะต้องจัดอยู่ตรงกลาง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เมื่อกด ลบ แล้วจะเคลียร์รายการนั้นออกไปจากหน้าจอ และจะลบออกจาก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Database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SAVE</a:t>
            </a:r>
            <a:b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กรณีกดลบข้อมูลโดยไม่ได้เลือก 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CheckBoxSelectionModel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Message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แจ้งเตือน	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914400" lvl="2" indent="0">
              <a:lnSpc>
                <a:spcPct val="120000"/>
              </a:lnSpc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Please select at least one record.”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หรือ “กรุณาเลือกอย่างน้อย 1 รายการ”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7972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8549640" cy="4069080"/>
          </a:xfrm>
        </p:spPr>
        <p:txBody>
          <a:bodyPr/>
          <a:lstStyle/>
          <a:p>
            <a:pPr marL="0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เมื่อไปที่รายการสุดท้ายแล้วกด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ให้ เลื่อน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Cursor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ลงมาเป็นการ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Input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ข้อมูลบรรทัดใหม่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เมื่อกด เพิ่ม 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Record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add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อยู่ท้ายสุดของข้อมูล</a:t>
            </a:r>
            <a:b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ถ้าหากมี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Mandatory Filed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ที่ยังไม่ได้กรอกข้อมูล แล้วกด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Add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เพิ่ม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Record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Message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แจ้งเตือน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Mandatory field(s) is required.”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หรือ “กรุณากรอกข้อมูลในช่อง * ให้ครบ”ถ้ากรอกข้อมูลซ้ำแล้วกด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Save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จะไม่สามารถบันทึกข้อมูลที่ซ้ำได้จะแสดง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Message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แจ้งเตือน “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Duplicate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Data” 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หรือ “ข้อมูลซ้ำ”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546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sz="2400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หน้าจอ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Master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1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012" y="2636204"/>
            <a:ext cx="7279988" cy="422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7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8473440" cy="406908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หน้าจอ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Master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ใช้โครงสร้างแบบเดียวกับ 1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</a:p>
          <a:p>
            <a:pPr marL="457200" lvl="1" indent="0">
              <a:buNone/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Grid Master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ต้องอยู่บน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Detail</a:t>
            </a:r>
            <a:b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- 1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ของ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Master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จะมีข้อมูลของ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ได้หลาย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Record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-ถ้า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Master Highlight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ไหน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จะต้องแสดงรายละเอียดของ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นั้นด้วย</a:t>
            </a:r>
            <a:b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จะไม่สามารถเพิ่มได้ถ้ายังไม่ได้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H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ighlight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ใน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Master</a:t>
            </a:r>
            <a:b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Grid Master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ต้องกรอกให้ครบก่อน ถึงจะสามารถเพิ่ม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ได้</a:t>
            </a:r>
            <a:b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กรณีที่ลบข้อมูล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Master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โดยที่ยังมี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อยู่ จะไม่สามารถลบได้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6039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sz="2400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หน้าจอ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Master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th-TH" sz="24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994" y="2615228"/>
            <a:ext cx="5739174" cy="406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573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หน้าจอ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Transaction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+ 1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</a:t>
            </a:r>
            <a:endParaRPr lang="th-TH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ใช้โครงสร้างแบบเดียวกับ 1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b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Transaction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ต้องอยู่บน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</a:t>
            </a:r>
            <a:b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Transaction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ต้องกรอกให้ครบก่อน ถึงจะสามารถเพิ่มข้อมูลใน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</a:t>
            </a:r>
          </a:p>
          <a:p>
            <a:pPr marL="0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074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sz="2000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หน้าจอ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Transaction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+ 1 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</a:t>
            </a:r>
            <a:endParaRPr lang="th-TH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764" y="2591308"/>
            <a:ext cx="6202099" cy="426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85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Master + Multi Grid</a:t>
            </a: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ใช้โครงสร้างแบบเดียวกับ 1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b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Master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ต้องอยู่บน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Detail</a:t>
            </a:r>
            <a:b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1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Master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จะมีข้อมูลของ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ได้หลาย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Record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ถ้า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Master Highlight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ไหน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จะต้องแสดงรายละเอียด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ของ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นั้น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ด้วย</a:t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จะไม่สามารถเพิ่มได้ถ้ายังไม่ได้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Highlight Record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Master</a:t>
            </a:r>
            <a:b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Master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ต้องกรอกให้ครบก่อน ถึงจะสามารถเพิ่ม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</a:t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กรณีที่ลบข้อมูล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Master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โดยที่ยังมี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Detail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อยู่ จะไม่สามารถลบได้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538885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5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การแสดงผลรวมของยอดเงินในหน้าจอ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Transaction</a:t>
            </a: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ผลรวมต้องแสดงเป็นจุดทศนิยม 2 ตำแหน่ง</a:t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ผลรวมท้าย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ต้องแสดงตรงกับคอลัมน์ที่คำนวณ</a:t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ผลรวมท้าย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ต้องไม่สามารถ แก้ไข ปรับเปลี่ยนโดยตรงได้ จะต้อง เกิดจากการ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แก้ไข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เท่านั้น</a:t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มีการแก้ไข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Record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ที่มีการทำผลรวมท้าย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Grid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จะต้องมีการคำนวณ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ผลรวม ท้าย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ใหม่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ผลรวมท้าย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จะแสดงด้วยตัวหนา</a:t>
            </a:r>
            <a:b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ผลรวมท้าย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Grid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เป็นยอดเงิน ความกว้างให้รองรับหลักพันล้าน 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3317940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b="1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การแสดงผลรวมของยอดเงินในหน้าจอ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Transaction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2" y="2693102"/>
            <a:ext cx="8434224" cy="24651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994910" y="4844415"/>
            <a:ext cx="3923896" cy="381688"/>
          </a:xfrm>
          <a:prstGeom prst="rect">
            <a:avLst/>
          </a:prstGeom>
          <a:noFill/>
          <a:ln w="127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Line Callout 2 5"/>
          <p:cNvSpPr/>
          <p:nvPr/>
        </p:nvSpPr>
        <p:spPr>
          <a:xfrm>
            <a:off x="5127914" y="5464365"/>
            <a:ext cx="1309254" cy="519545"/>
          </a:xfrm>
          <a:prstGeom prst="borderCallout2">
            <a:avLst>
              <a:gd name="adj1" fmla="val 10750"/>
              <a:gd name="adj2" fmla="val 106746"/>
              <a:gd name="adj3" fmla="val 10750"/>
              <a:gd name="adj4" fmla="val 122222"/>
              <a:gd name="adj5" fmla="val -47500"/>
              <a:gd name="adj6" fmla="val 14380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ผลรวมท้าย </a:t>
            </a:r>
            <a:r>
              <a:rPr lang="en-US" sz="2000" dirty="0">
                <a:latin typeface="AngsanaUPC" panose="02020603050405020304" pitchFamily="18" charset="-34"/>
                <a:cs typeface="AngsanaUPC" panose="02020603050405020304" pitchFamily="18" charset="-34"/>
              </a:rPr>
              <a:t>Grid</a:t>
            </a:r>
          </a:p>
        </p:txBody>
      </p:sp>
    </p:spTree>
    <p:extLst>
      <p:ext uri="{BB962C8B-B14F-4D97-AF65-F5344CB8AC3E}">
        <p14:creationId xmlns:p14="http://schemas.microsoft.com/office/powerpoint/2010/main" val="37445134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TabPanel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ส่วน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จัดการ การ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แสดงผลโดยมีหน้าการทำงาน อยู่ภายในช่องของ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โดย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Tab 1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ตัว จะมีหน้าการทำงานอยู่หลายหน้า ผู้ใช้สามารถเข้าไปจัดการกับหน้าการทำงานนั้นๆโดยผ่านการ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กดที่หัว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แท็บเพื่อเปลี่ยนหน้าการทำงานให้เป็นตามที่ผู้ใช้เลือก</a:t>
            </a: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00" y="3604246"/>
            <a:ext cx="7033461" cy="317755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Flowchart: Alternate Process 4"/>
          <p:cNvSpPr/>
          <p:nvPr/>
        </p:nvSpPr>
        <p:spPr>
          <a:xfrm>
            <a:off x="594360" y="3762588"/>
            <a:ext cx="2908638" cy="193324"/>
          </a:xfrm>
          <a:prstGeom prst="flowChartAlternate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876300" y="4114253"/>
            <a:ext cx="5780880" cy="2391321"/>
          </a:xfrm>
          <a:prstGeom prst="flowChartAlternate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Flowchart: Connector 6"/>
          <p:cNvSpPr/>
          <p:nvPr/>
        </p:nvSpPr>
        <p:spPr>
          <a:xfrm>
            <a:off x="363805" y="3570337"/>
            <a:ext cx="225751" cy="22575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350" b="1" dirty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en-US" sz="135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8" name="Flowchart: Connector 7"/>
          <p:cNvSpPr/>
          <p:nvPr/>
        </p:nvSpPr>
        <p:spPr>
          <a:xfrm>
            <a:off x="363805" y="3759692"/>
            <a:ext cx="225751" cy="22575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350" b="1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endParaRPr lang="en-US" sz="135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316775" y="4804079"/>
            <a:ext cx="225751" cy="22575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350" b="1" dirty="0">
                <a:latin typeface="AngsanaUPC" panose="02020603050405020304" pitchFamily="18" charset="-34"/>
                <a:cs typeface="AngsanaUPC" panose="02020603050405020304" pitchFamily="18" charset="-34"/>
              </a:rPr>
              <a:t>3</a:t>
            </a:r>
            <a:endParaRPr lang="en-US" sz="135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7019883" y="4424289"/>
            <a:ext cx="1892461" cy="1341287"/>
          </a:xfrm>
          <a:prstGeom prst="wedgeRoundRectCallout">
            <a:avLst>
              <a:gd name="adj1" fmla="val -85053"/>
              <a:gd name="adj2" fmla="val 275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57175" indent="-257175">
              <a:buAutoNum type="arabicPeriod"/>
            </a:pPr>
            <a:r>
              <a:rPr lang="th-TH" sz="1500" dirty="0">
                <a:latin typeface="AngsanaUPC" panose="02020603050405020304" pitchFamily="18" charset="-34"/>
                <a:cs typeface="AngsanaUPC" panose="02020603050405020304" pitchFamily="18" charset="-34"/>
              </a:rPr>
              <a:t>คือชื่อของหน้า </a:t>
            </a:r>
            <a:r>
              <a:rPr lang="en-US" sz="1500" dirty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sz="1500" dirty="0">
                <a:latin typeface="AngsanaUPC" panose="02020603050405020304" pitchFamily="18" charset="-34"/>
                <a:cs typeface="AngsanaUPC" panose="02020603050405020304" pitchFamily="18" charset="-34"/>
              </a:rPr>
              <a:t>นั้นๆ</a:t>
            </a:r>
          </a:p>
          <a:p>
            <a:pPr marL="257175" indent="-257175">
              <a:buAutoNum type="arabicPeriod"/>
            </a:pPr>
            <a:r>
              <a:rPr lang="th-TH" sz="1500" dirty="0">
                <a:latin typeface="AngsanaUPC" panose="02020603050405020304" pitchFamily="18" charset="-34"/>
                <a:cs typeface="AngsanaUPC" panose="02020603050405020304" pitchFamily="18" charset="-34"/>
              </a:rPr>
              <a:t>คือปุ่มหัวแท็บมีไว้เปลี่ยนหน้าการทำงานภายใน</a:t>
            </a:r>
            <a:r>
              <a:rPr lang="en-US" sz="1500" dirty="0">
                <a:latin typeface="AngsanaUPC" panose="02020603050405020304" pitchFamily="18" charset="-34"/>
                <a:cs typeface="AngsanaUPC" panose="02020603050405020304" pitchFamily="18" charset="-34"/>
              </a:rPr>
              <a:t>Tab</a:t>
            </a:r>
          </a:p>
          <a:p>
            <a:pPr marL="257175" indent="-257175">
              <a:buAutoNum type="arabicPeriod"/>
            </a:pPr>
            <a:r>
              <a:rPr lang="th-TH" sz="1500" dirty="0">
                <a:latin typeface="AngsanaUPC" panose="02020603050405020304" pitchFamily="18" charset="-34"/>
                <a:cs typeface="AngsanaUPC" panose="02020603050405020304" pitchFamily="18" charset="-34"/>
              </a:rPr>
              <a:t>ส่วนแสดงหน้าการทำงานของ</a:t>
            </a:r>
            <a:r>
              <a:rPr lang="en-US" sz="1500" dirty="0">
                <a:latin typeface="AngsanaUPC" panose="02020603050405020304" pitchFamily="18" charset="-34"/>
                <a:cs typeface="AngsanaUPC" panose="02020603050405020304" pitchFamily="18" charset="-34"/>
              </a:rPr>
              <a:t> Tab</a:t>
            </a:r>
            <a:endParaRPr lang="th-TH" sz="15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Flowchart: Alternate Process 10"/>
          <p:cNvSpPr/>
          <p:nvPr/>
        </p:nvSpPr>
        <p:spPr>
          <a:xfrm>
            <a:off x="610986" y="3618365"/>
            <a:ext cx="462163" cy="129901"/>
          </a:xfrm>
          <a:prstGeom prst="flowChartAlternateProcess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7940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รูปแบบการทำงานของหน้าที่มี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 Tab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Panel</a:t>
            </a:r>
          </a:p>
          <a:p>
            <a:pPr marL="457200" lvl="1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1. เมื่อเข้ามาหน้าการทำงานโปรแกรมต้องทำการ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Search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แรกขึ้นมาแสดง</a:t>
            </a:r>
          </a:p>
          <a:p>
            <a:pPr marL="457200" lvl="1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2. เมื่อคลิกเลือก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หน้าไหนให้ทำการ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Search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ข้อมูลหน้านั้น</a:t>
            </a: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08" y="3677461"/>
            <a:ext cx="7631409" cy="2380439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6799552" y="3163111"/>
            <a:ext cx="1847850" cy="514350"/>
          </a:xfrm>
          <a:prstGeom prst="wedgeRoundRectCallout">
            <a:avLst>
              <a:gd name="adj1" fmla="val -30627"/>
              <a:gd name="adj2" fmla="val 9953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ข้อมูลใน </a:t>
            </a:r>
            <a:r>
              <a:rPr lang="en-US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ถูก </a:t>
            </a:r>
            <a:r>
              <a:rPr lang="en-US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Search </a:t>
            </a:r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ขึ้นมาแสดงตาม </a:t>
            </a:r>
            <a:r>
              <a:rPr lang="en-US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ที่เลือก</a:t>
            </a:r>
            <a:endParaRPr lang="en-US" sz="16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000976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รูปแบบการทำงานของหน้าที่มี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 Tab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Panel</a:t>
            </a:r>
          </a:p>
          <a:p>
            <a:pPr marL="457200" lvl="1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ถ้าข้อมูลใน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มีการเปลี่ยนแปลงแล้วผู้ใช้ไปคลิก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อื่น หรือ กระทำการใดๆที่จะทำให้ข้อมูลใน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ที่แก้ไขไว้นั้นหายไปโปรแกรมต้องมีข้อความแจ้งเตือน ยกตัวอย่างเช่น 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890"/>
          <a:stretch/>
        </p:blipFill>
        <p:spPr>
          <a:xfrm>
            <a:off x="774525" y="3257284"/>
            <a:ext cx="7041834" cy="10969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02635" y="4111791"/>
            <a:ext cx="6585615" cy="19351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Rounded Rectangular Callout 5"/>
          <p:cNvSpPr/>
          <p:nvPr/>
        </p:nvSpPr>
        <p:spPr>
          <a:xfrm>
            <a:off x="6671630" y="3346883"/>
            <a:ext cx="2068191" cy="458876"/>
          </a:xfrm>
          <a:prstGeom prst="wedgeRoundRectCallout">
            <a:avLst>
              <a:gd name="adj1" fmla="val -40647"/>
              <a:gd name="adj2" fmla="val 992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1.ผู้ใช้ทำการเพิ่มข้อมูลลงใน </a:t>
            </a:r>
            <a:r>
              <a:rPr lang="en-US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</a:t>
            </a:r>
            <a:endParaRPr lang="en-US" sz="16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738"/>
          <a:stretch/>
        </p:blipFill>
        <p:spPr>
          <a:xfrm>
            <a:off x="831342" y="4349174"/>
            <a:ext cx="6985017" cy="106102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870858" y="4555044"/>
            <a:ext cx="601683" cy="23330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4238625" y="4406545"/>
            <a:ext cx="1961188" cy="409575"/>
          </a:xfrm>
          <a:prstGeom prst="wedgeRoundRectCallout">
            <a:avLst>
              <a:gd name="adj1" fmla="val -70858"/>
              <a:gd name="adj2" fmla="val 1366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 ผู้ใช้ทำการคลิกเลือก </a:t>
            </a:r>
            <a:r>
              <a:rPr lang="en-US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 </a:t>
            </a:r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อื่น</a:t>
            </a:r>
            <a:endParaRPr lang="en-US" sz="16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37"/>
          <a:stretch/>
        </p:blipFill>
        <p:spPr>
          <a:xfrm>
            <a:off x="831342" y="5448300"/>
            <a:ext cx="6892359" cy="137513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924001" y="5901900"/>
            <a:ext cx="2585259" cy="799679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6941335" y="5547359"/>
            <a:ext cx="1539725" cy="432838"/>
          </a:xfrm>
          <a:prstGeom prst="wedgeRoundRectCallout">
            <a:avLst>
              <a:gd name="adj1" fmla="val -62134"/>
              <a:gd name="adj2" fmla="val 3829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3.ระบบทำการแจ้งเตือน</a:t>
            </a:r>
            <a:endParaRPr lang="en-US" sz="16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095768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แนบ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รูปภาพ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1.ผู้ใช้ทำการกดปุ่มค้นหารูปภาพ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00" y="3032438"/>
            <a:ext cx="7982940" cy="280941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540365" y="5106934"/>
            <a:ext cx="705165" cy="240064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04900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รูปภาพ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2. ผู้ใช้เลือกรูปภาพที่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ต้องการ</a:t>
            </a: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317" y="2944638"/>
            <a:ext cx="6161258" cy="37705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93089" y="5837050"/>
            <a:ext cx="583861" cy="20291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Oval 5"/>
          <p:cNvSpPr/>
          <p:nvPr/>
        </p:nvSpPr>
        <p:spPr>
          <a:xfrm>
            <a:off x="3602748" y="3735396"/>
            <a:ext cx="214914" cy="21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Oval 6"/>
          <p:cNvSpPr/>
          <p:nvPr/>
        </p:nvSpPr>
        <p:spPr>
          <a:xfrm>
            <a:off x="5253213" y="5825052"/>
            <a:ext cx="214914" cy="2149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3766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4069080"/>
          </a:xfrm>
        </p:spPr>
        <p:txBody>
          <a:bodyPr/>
          <a:lstStyle/>
          <a:p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รูปภาพ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. โปรแกรมแสดงรูปภาพที่ผู้ใช้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เลือก</a:t>
            </a: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310" y="3024129"/>
            <a:ext cx="7055380" cy="2217815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552256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รูปภาพ</a:t>
            </a:r>
            <a:endParaRPr lang="en-US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. ผู้ใช้ทำการกดปุ่ม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Save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เพื่อบันทึกข้อมูลและ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รูปภาพลงในระบบถ้ารูปภาพที่ทำการ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มี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ชื่อซ้ำกันกับรูปภาพที่มีอยู่ในระบบ โปรแกรมจะทำ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การแจ้งเตือน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ให้ผู้ใช้เลือกว่าจะทำการ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แทนที่รูปภาพเดิมหรือไม่</a:t>
            </a: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3" t="20192" r="15114" b="36657"/>
          <a:stretch/>
        </p:blipFill>
        <p:spPr>
          <a:xfrm>
            <a:off x="1990725" y="4013350"/>
            <a:ext cx="4810125" cy="148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298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ไฟล์</a:t>
            </a:r>
          </a:p>
          <a:p>
            <a:pPr marL="457200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1.ผู้ใช้ทำการกดปุ่มค้นหาไฟล์</a:t>
            </a:r>
          </a:p>
          <a:p>
            <a:pPr marL="457200" lvl="1" indent="0">
              <a:buNone/>
            </a:pP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25" y="3127688"/>
            <a:ext cx="7982940" cy="280941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1724751" y="5212123"/>
            <a:ext cx="705165" cy="240064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364180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</a:t>
            </a:r>
          </a:p>
          <a:p>
            <a:pPr marL="457200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2. ผู้ใช้เลือกไฟล์ที่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ต้องการ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25" y="3066774"/>
            <a:ext cx="5919538" cy="36675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300462" y="4597400"/>
            <a:ext cx="1558805" cy="397566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055731" y="4686729"/>
            <a:ext cx="214914" cy="21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/>
              <a:t>1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067541" y="5800035"/>
            <a:ext cx="557041" cy="191715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825045" y="5802984"/>
            <a:ext cx="214914" cy="21491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2</a:t>
            </a:r>
            <a:endParaRPr lang="en-US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6258833" y="3863200"/>
            <a:ext cx="2066017" cy="823529"/>
          </a:xfrm>
          <a:prstGeom prst="wedgeRoundRectCallout">
            <a:avLst>
              <a:gd name="adj1" fmla="val -52859"/>
              <a:gd name="adj2" fmla="val 1288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ผู้ใช้เลือกไฟล์ที่ต้องการ</a:t>
            </a:r>
          </a:p>
          <a:p>
            <a:pPr marL="342900" indent="-342900">
              <a:buAutoNum type="arabicPeriod"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สั่งเปิดไฟล์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943398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4069080"/>
          </a:xfrm>
        </p:spPr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ไฟล์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 โปรแกรมแสดงไฟล์ที่ผู้ใช้เลือก</a:t>
            </a: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97" y="3083882"/>
            <a:ext cx="7286405" cy="2290436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48264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ไฟล์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 ผู้ใช้ทำการกดปุ่ม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Save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เพื่อบันทึกข้อมูลและ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ไฟล์ลงในระบบถ้าไฟล์ที่ทำการ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มีชื่อซ้ำกันกับไฟล์ที่มีอยู่ในระบบ โปรแกรมจะทำการเตือนให้ผู้ใช้เลือกว่าจะทำการ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Upload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แทนที่ไฟล์เดิมหรือไม่</a:t>
            </a:r>
          </a:p>
          <a:p>
            <a:pPr marL="457200" lvl="1" indent="0">
              <a:buNone/>
            </a:pP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4" t="20822" r="14795" b="37625"/>
          <a:stretch/>
        </p:blipFill>
        <p:spPr>
          <a:xfrm>
            <a:off x="1833130" y="3940067"/>
            <a:ext cx="5148695" cy="1517757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6443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/ไฟล์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แนบ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–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นามสกุล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ไฟล์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1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. ไฟล์รูปภาพ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.bmp, .jpg,. 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png</a:t>
            </a:r>
            <a:endParaRPr lang="th-TH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lvl="1" indent="0">
              <a:buNone/>
            </a:pPr>
            <a:r>
              <a:rPr lang="th-TH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2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. ไฟล์เอกสาร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.doc, .pdf, .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xls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, .csv, .txt</a:t>
            </a:r>
            <a:endParaRPr lang="th-TH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lvl="1" indent="0">
              <a:buNone/>
            </a:pPr>
            <a:r>
              <a:rPr lang="th-TH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3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.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Compressed File .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rar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, .zip, .</a:t>
            </a:r>
            <a:r>
              <a:rPr lang="en-US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taz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, etc.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8225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Download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รูปภาพ</a:t>
            </a: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ผู้ใช้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คลิกเลือกรูปภาพที่ต้องการจะ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Download </a:t>
            </a:r>
            <a:endParaRPr lang="th-TH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en-US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2. </a:t>
            </a:r>
            <a:r>
              <a:rPr lang="th-TH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โปรแกรมทำการ </a:t>
            </a:r>
            <a:r>
              <a:rPr lang="en-US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Download </a:t>
            </a:r>
            <a:r>
              <a:rPr lang="th-TH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รูปภาพที่ผู้ใช้เลือก</a:t>
            </a:r>
            <a:endParaRPr lang="en-US" sz="2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66" y="2940061"/>
            <a:ext cx="7055380" cy="22178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10640" y="3159416"/>
            <a:ext cx="1649896" cy="1779104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2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4069080"/>
          </a:xfrm>
        </p:spPr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การบันทึก และการแสดงรูปภาพ/ไฟล์แนบ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Download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ไฟล์</a:t>
            </a: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ผู้ใช้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คลิก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เลือกไฟล์ที่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ต้องการจะ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Download </a:t>
            </a:r>
            <a:endParaRPr lang="th-TH" sz="22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en-US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2. </a:t>
            </a:r>
            <a:r>
              <a:rPr lang="th-TH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โปรแกรมทำการ </a:t>
            </a:r>
            <a:r>
              <a:rPr lang="en-US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Download </a:t>
            </a:r>
            <a:r>
              <a:rPr lang="th-TH" sz="22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ไฟล์ที่</a:t>
            </a:r>
            <a:r>
              <a:rPr lang="th-TH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ผู้ใช้เลือก</a:t>
            </a:r>
            <a:endParaRPr lang="en-US" sz="2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74" y="2961445"/>
            <a:ext cx="7286405" cy="229043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86230" y="3239744"/>
            <a:ext cx="1649896" cy="1779104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49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การทำ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Running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–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การสร้างเลขที่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1. โปรแกรมจะแสดงช่องเลขที่เอกสารเป็นคำว่า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AUTO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และจัดกึ่งกลาง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จะเป็นการสร้างเลขที่เอกสารจากระบบ หากผู้ใช้ต้องการสร้างเลขที่เอกสารเองก็สามารถทำ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ได้โดยการ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คลิกที่ช่อง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AUTO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ที่มีเครื่องหมายถูกออกแล้ว ช่องเลขที่เอกเอกสารจะเปิดให้ผู้ใช้กรอกเลขที่เอกสารได้</a:t>
            </a: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42" t="36261" r="19579" b="38092"/>
          <a:stretch/>
        </p:blipFill>
        <p:spPr>
          <a:xfrm>
            <a:off x="1605395" y="3848966"/>
            <a:ext cx="4561610" cy="5507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6" t="34883" r="19385" b="39954"/>
          <a:stretch/>
        </p:blipFill>
        <p:spPr>
          <a:xfrm>
            <a:off x="1520536" y="4668116"/>
            <a:ext cx="4561609" cy="540328"/>
          </a:xfrm>
          <a:prstGeom prst="rect">
            <a:avLst/>
          </a:prstGeom>
        </p:spPr>
      </p:pic>
      <p:sp>
        <p:nvSpPr>
          <p:cNvPr id="6" name="Rounded Rectangular Callout 5"/>
          <p:cNvSpPr/>
          <p:nvPr/>
        </p:nvSpPr>
        <p:spPr>
          <a:xfrm>
            <a:off x="6387154" y="3628697"/>
            <a:ext cx="1702746" cy="440537"/>
          </a:xfrm>
          <a:prstGeom prst="wedgeRoundRectCallout">
            <a:avLst>
              <a:gd name="adj1" fmla="val -71023"/>
              <a:gd name="adj2" fmla="val 552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5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สร้าง</a:t>
            </a:r>
            <a:r>
              <a:rPr lang="th-TH" sz="15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เลขที่เอกสารจากระบบ</a:t>
            </a:r>
            <a:endParaRPr lang="en-US" sz="15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7" name="Rounded Rectangular Callout 6"/>
          <p:cNvSpPr/>
          <p:nvPr/>
        </p:nvSpPr>
        <p:spPr>
          <a:xfrm>
            <a:off x="6402234" y="4438650"/>
            <a:ext cx="2278215" cy="544693"/>
          </a:xfrm>
          <a:prstGeom prst="wedgeRoundRectCallout">
            <a:avLst>
              <a:gd name="adj1" fmla="val -74777"/>
              <a:gd name="adj2" fmla="val 4571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500" dirty="0">
                <a:latin typeface="Angsana New" panose="02020603050405020304" pitchFamily="18" charset="-34"/>
                <a:cs typeface="Angsana New" panose="02020603050405020304" pitchFamily="18" charset="-34"/>
              </a:rPr>
              <a:t>สร้างเลขที่เอกสารโดยการ</a:t>
            </a:r>
            <a:r>
              <a:rPr lang="th-TH" sz="15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กรอกจาก</a:t>
            </a:r>
            <a:r>
              <a:rPr lang="th-TH" sz="1500" dirty="0">
                <a:latin typeface="Angsana New" panose="02020603050405020304" pitchFamily="18" charset="-34"/>
                <a:cs typeface="Angsana New" panose="02020603050405020304" pitchFamily="18" charset="-34"/>
              </a:rPr>
              <a:t>ผู้ใช้</a:t>
            </a:r>
            <a:endParaRPr lang="en-US" sz="15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251092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การทำ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Running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–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การสร้างเลขที่เอกสาร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r>
              <a:rPr lang="en-US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2. </a:t>
            </a:r>
            <a:r>
              <a:rPr lang="th-TH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เมื่อผู้ใช้ทำการบันทึกข้อมูล ในกรณี</a:t>
            </a:r>
            <a:r>
              <a:rPr lang="th-TH" sz="22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ที่สร้าง</a:t>
            </a:r>
            <a:r>
              <a:rPr lang="th-TH" sz="22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เลขที่เอกสารจากระบบ โปรแกรมจะทำการสร้างเลขที่เอกสารแล้วบันทึกลงใน ฐานข้อมูล ในกรณีที่ผู้ใช้กรอกเลขที่เอกสารเองโปรแกรมจะทำการบันทึกเลขที่เอกสารลงใน</a:t>
            </a:r>
            <a:r>
              <a:rPr lang="th-TH" sz="2200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ฐานข้อมูลและเลขที่เอกสารต้องไม่ซ้ำกับเลขที่เอกสารที่มีอยู่แล้วในระบบ</a:t>
            </a:r>
            <a:endParaRPr lang="en-US" sz="2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666" y="4152255"/>
            <a:ext cx="3625381" cy="457845"/>
          </a:xfrm>
          <a:prstGeom prst="rect">
            <a:avLst/>
          </a:prstGeom>
        </p:spPr>
      </p:pic>
      <p:sp>
        <p:nvSpPr>
          <p:cNvPr id="5" name="Rounded Rectangular Callout 4"/>
          <p:cNvSpPr/>
          <p:nvPr/>
        </p:nvSpPr>
        <p:spPr>
          <a:xfrm>
            <a:off x="5540047" y="3726286"/>
            <a:ext cx="2182969" cy="357389"/>
          </a:xfrm>
          <a:prstGeom prst="wedgeRoundRectCallout">
            <a:avLst>
              <a:gd name="adj1" fmla="val -68172"/>
              <a:gd name="adj2" fmla="val 616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500" dirty="0">
                <a:latin typeface="Angsana New" panose="02020603050405020304" pitchFamily="18" charset="-34"/>
                <a:cs typeface="Angsana New" panose="02020603050405020304" pitchFamily="18" charset="-34"/>
              </a:rPr>
              <a:t>เลขที่เอกสารที่ทำการสร้างจากระบบ</a:t>
            </a:r>
            <a:endParaRPr lang="en-US" sz="15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8275431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การทำ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Running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– </a:t>
            </a:r>
            <a:r>
              <a:rPr lang="en-US" b="1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SequenceNo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</a:p>
          <a:p>
            <a:pPr marL="457200" lvl="1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SequenceNo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เป็นการสร้างเลขที่เอกสาร ที่จะเพิ่มค่าตัวเลขเอกสารขึ้นทีละหนึ่งไปเรื่อยๆ</a:t>
            </a: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154" y="3426595"/>
            <a:ext cx="2573722" cy="22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983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59" y="2194560"/>
            <a:ext cx="8406765" cy="4069080"/>
          </a:xfrm>
        </p:spPr>
        <p:txBody>
          <a:bodyPr/>
          <a:lstStyle/>
          <a:p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การทำ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Running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เลขที่เอกสาร</a:t>
            </a:r>
          </a:p>
          <a:p>
            <a:pPr marL="457200" lvl="1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รูปแบบ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การสร้างเลขที่เอกสารคือ ประเภทเอกสาร(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SUBTYPE)+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วันที่เอกสาร(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DATE(YYMM))+SEQ NO.(XXX) </a:t>
            </a:r>
          </a:p>
          <a:p>
            <a:pPr marL="457200" lvl="1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รหัส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เอกสารออกมาใน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รูปแบบ ดังนี้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94" y="3381375"/>
            <a:ext cx="7105000" cy="2625403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2626754" y="3907129"/>
            <a:ext cx="1516487" cy="830777"/>
          </a:xfrm>
          <a:prstGeom prst="straightConnector1">
            <a:avLst/>
          </a:prstGeom>
          <a:ln w="57150">
            <a:solidFill>
              <a:srgbClr val="99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095769" y="3878150"/>
            <a:ext cx="0" cy="850096"/>
          </a:xfrm>
          <a:prstGeom prst="straightConnector1">
            <a:avLst/>
          </a:prstGeom>
          <a:ln w="57150">
            <a:solidFill>
              <a:srgbClr val="FFFF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686348" y="3887810"/>
            <a:ext cx="1081826" cy="830777"/>
          </a:xfrm>
          <a:prstGeom prst="straightConnector1">
            <a:avLst/>
          </a:prstGeom>
          <a:ln w="57150">
            <a:solidFill>
              <a:srgbClr val="FF99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99038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การทำ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Running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–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เลขที่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โดย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การสร้างเลขที่เอกสารจะมีเงื่อนไขอยู่ว่า ถ้า ประเภทเอกสาร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(SUBTYPE)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หรือ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วันที่</a:t>
            </a:r>
            <a:r>
              <a:rPr lang="th-TH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เอกสาร</a:t>
            </a:r>
            <a:r>
              <a:rPr lang="en-US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(DATE(YYMM))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ยังไม่เคยมีในตารางเลข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SEQ NO.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จะเริ่มจาก 0001 ใหม่ แต่ถ้ามีข้อมูลอยู่แล้วระบบจะเพิ่มค่าเลข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SEQ NO.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ขึ้น</a:t>
            </a:r>
            <a:r>
              <a:rPr lang="th-TH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เรื่อยๆ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endParaRPr lang="en-US" dirty="0" smtClean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endParaRPr lang="en-US" dirty="0" smtClean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0" indent="0">
              <a:buNone/>
            </a:pPr>
            <a:r>
              <a:rPr lang="th-TH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ใน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กรณีนี้การสร้างเอกสารมี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SUBTYPE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เป็น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APCN00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 ซึ่งยังไม่เคยมีในฐานข้อมูลทำให้ 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SEQ NO. </a:t>
            </a:r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เริ่มนับเป็น 0001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lvl="1" indent="0">
              <a:buNone/>
            </a:pP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056" y="3771812"/>
            <a:ext cx="3318805" cy="13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097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การทำ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Running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–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เลขที่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ภาษี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หัก ณ ที่จ่าย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มี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รูปแบบการสร้างคือ วันที่จ่าย(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DATE(YYMM))+SEQ NO.(XXXX)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คล้าย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กับการสร้างเลขที่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 เพียงแต่ไม่มีการใช้ ประเภทเอกสาร(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SUBTYPE)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เข้ามาสร้าง ส่วนเงื่อนไขการสร้าง ถ้าเป็นวันที่จ่าย(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DATE(YYMM))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ใหม่ที่ยังไม่เคยมีในฐานข้อมูลระบบจะเริ่มนับ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SEQ NO.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ใหม่เป็น 0001 แต่ถ้ามีวันที่อยู่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แล้ว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ระบบจะเพิ่มค่าเลข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SEQ NO.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ขึ้นเรื่อยๆ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156096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Input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 แบบ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Tree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Panel</a:t>
            </a:r>
          </a:p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คือ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รูปแบบการแสดงข้อมูลชนิดหนึ่งโดยจะแสดง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เป็นลำดับ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ชั้นลง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มา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เหมาะ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กับการแสดงข้อมูลที่แสดง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เป็นลำดับ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ชั้นและมีจำนวนมากๆ</a:t>
            </a:r>
          </a:p>
          <a:p>
            <a:pPr marL="457200" lvl="1" indent="0">
              <a:buNone/>
            </a:pP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579" y="3420924"/>
            <a:ext cx="6384957" cy="3179204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5330944" y="3947286"/>
            <a:ext cx="1242607" cy="563628"/>
          </a:xfrm>
          <a:prstGeom prst="wedgeRoundRectCallout">
            <a:avLst>
              <a:gd name="adj1" fmla="val -84069"/>
              <a:gd name="adj2" fmla="val 3645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1. Tree </a:t>
            </a:r>
            <a:r>
              <a:rPr lang="en-US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Panel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algn="ctr"/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2. Tree </a:t>
            </a:r>
            <a:r>
              <a:rPr lang="en-US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Node</a:t>
            </a:r>
            <a:endParaRPr lang="en-US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94403" y="4342237"/>
            <a:ext cx="1854557" cy="1176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Flowchart: Connector 12"/>
          <p:cNvSpPr/>
          <p:nvPr/>
        </p:nvSpPr>
        <p:spPr>
          <a:xfrm>
            <a:off x="1387055" y="3420924"/>
            <a:ext cx="183524" cy="183524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350" b="1" dirty="0"/>
              <a:t>1</a:t>
            </a:r>
            <a:endParaRPr lang="en-US" sz="1350" b="1" dirty="0"/>
          </a:p>
        </p:txBody>
      </p:sp>
      <p:sp>
        <p:nvSpPr>
          <p:cNvPr id="14" name="Flowchart: Connector 13"/>
          <p:cNvSpPr/>
          <p:nvPr/>
        </p:nvSpPr>
        <p:spPr>
          <a:xfrm>
            <a:off x="1861939" y="4342237"/>
            <a:ext cx="183524" cy="183524"/>
          </a:xfrm>
          <a:prstGeom prst="flowChartConnector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350" b="1" dirty="0"/>
              <a:t>2</a:t>
            </a:r>
            <a:endParaRPr lang="en-US" sz="1350" b="1" dirty="0"/>
          </a:p>
        </p:txBody>
      </p:sp>
    </p:spTree>
    <p:extLst>
      <p:ext uri="{BB962C8B-B14F-4D97-AF65-F5344CB8AC3E}">
        <p14:creationId xmlns:p14="http://schemas.microsoft.com/office/powerpoint/2010/main" val="336700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การใช้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Tree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panel</a:t>
            </a:r>
          </a:p>
          <a:p>
            <a:pPr marL="457200" lvl="1" indent="0">
              <a:buNone/>
            </a:pP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1.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ใช้แสดงข้อมูลที่สัมพันธ์กันแบบลำดับชั้นตัวอย่างเช่น ข้อมูลบัญชี</a:t>
            </a: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042858" y="3419476"/>
            <a:ext cx="1394638" cy="510196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outerShdw blurRad="203200" dist="127000" dir="12180000" sx="97000" sy="97000" algn="ctr" rotWithShape="0">
              <a:srgbClr val="000000">
                <a:alpha val="8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h-TH" sz="2200" dirty="0" smtClean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สินทรัพย์</a:t>
            </a:r>
            <a:endParaRPr lang="en-US" sz="220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1095376" y="4573738"/>
            <a:ext cx="1629760" cy="68406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203200" dist="127000" dir="12180000" sx="97000" sy="97000" algn="ctr" rotWithShape="0">
              <a:srgbClr val="000000">
                <a:alpha val="8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h-TH" sz="2200" dirty="0" smtClean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เงินฝากกระแสรายวัน</a:t>
            </a:r>
            <a:endParaRPr lang="en-US" sz="220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049774" y="4573738"/>
            <a:ext cx="1385978" cy="684062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203200" dist="127000" dir="12180000" sx="97000" sy="97000" algn="ctr" rotWithShape="0">
              <a:srgbClr val="000000">
                <a:alpha val="8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h-TH" sz="2200" dirty="0" smtClean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ลูกหนี้การค้า</a:t>
            </a:r>
            <a:endParaRPr lang="en-US" sz="220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720624" y="4574209"/>
            <a:ext cx="1440063" cy="683591"/>
          </a:xfrm>
          <a:prstGeom prst="roundRect">
            <a:avLst/>
          </a:prstGeom>
          <a:solidFill>
            <a:srgbClr val="00B050"/>
          </a:solidFill>
          <a:ln>
            <a:noFill/>
          </a:ln>
          <a:effectLst>
            <a:outerShdw blurRad="203200" dist="127000" dir="12180000" sx="97000" sy="97000" algn="ctr" rotWithShape="0">
              <a:srgbClr val="000000">
                <a:alpha val="8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th-TH" sz="2200" dirty="0" smtClean="0">
                <a:solidFill>
                  <a:schemeClr val="bg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สินค้าคงเหลือ</a:t>
            </a:r>
            <a:endParaRPr lang="en-US" sz="2200" dirty="0">
              <a:solidFill>
                <a:schemeClr val="bg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33" name="Elbow Connector 32"/>
          <p:cNvCxnSpPr>
            <a:stCxn id="29" idx="2"/>
            <a:endCxn id="30" idx="0"/>
          </p:cNvCxnSpPr>
          <p:nvPr/>
        </p:nvCxnSpPr>
        <p:spPr>
          <a:xfrm rot="5400000">
            <a:off x="2503184" y="3336745"/>
            <a:ext cx="644066" cy="1829921"/>
          </a:xfrm>
          <a:prstGeom prst="bentConnector3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stCxn id="29" idx="2"/>
            <a:endCxn id="31" idx="0"/>
          </p:cNvCxnSpPr>
          <p:nvPr/>
        </p:nvCxnSpPr>
        <p:spPr>
          <a:xfrm rot="16200000" flipH="1">
            <a:off x="3419437" y="4250412"/>
            <a:ext cx="644066" cy="2586"/>
          </a:xfrm>
          <a:prstGeom prst="bentConnector3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29" idx="2"/>
            <a:endCxn id="32" idx="0"/>
          </p:cNvCxnSpPr>
          <p:nvPr/>
        </p:nvCxnSpPr>
        <p:spPr>
          <a:xfrm rot="16200000" flipH="1">
            <a:off x="4268148" y="3401700"/>
            <a:ext cx="644537" cy="1700479"/>
          </a:xfrm>
          <a:prstGeom prst="bentConnector3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ular Callout 35"/>
          <p:cNvSpPr/>
          <p:nvPr/>
        </p:nvSpPr>
        <p:spPr>
          <a:xfrm>
            <a:off x="6131059" y="2939409"/>
            <a:ext cx="2850006" cy="1184916"/>
          </a:xfrm>
          <a:prstGeom prst="wedgeRoundRectCallout">
            <a:avLst>
              <a:gd name="adj1" fmla="val -71848"/>
              <a:gd name="adj2" fmla="val 467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รูปแสดงความสัมพันธ์ของข้อมูล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สินทรัพย์ที่เป็นบัญชีหลักและมีบัญชีย่อยอยู่ในอีกลำดับชั้น</a:t>
            </a: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097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การจัดทำหน้าจอบันทึก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การใช้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Tree panel</a:t>
            </a:r>
          </a:p>
          <a:p>
            <a:pPr marL="457200" lvl="1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. ต้องแสดง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Checkbox 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เพื่อให้ผู้ใช้สามารถเลือกข้อมูลใน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Tree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</a:t>
            </a:r>
          </a:p>
        </p:txBody>
      </p:sp>
      <p:pic>
        <p:nvPicPr>
          <p:cNvPr id="6" name="Picture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88" y="6263200"/>
            <a:ext cx="618750" cy="607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174" y="2954083"/>
            <a:ext cx="4757526" cy="329676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689942" y="4200525"/>
            <a:ext cx="263346" cy="206267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83699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PDF and Excel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ที่เลือกผ่าน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Standard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เมื่อผู้ใช้กดปุ่มพิมพ์ระบบจะแสดง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หน้า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Pop up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ขึ้นมา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ให้เลือกว่าจะทำการพิมพ์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ในรูปแบบ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ไหน ในส่วนนี้จะเป็น </a:t>
            </a:r>
          </a:p>
          <a:p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แสดงผล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indow Pop up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อยู่กลางหน้าจอที่มีพื้นหลังเป็นหน้าจอหลัก</a:t>
            </a: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      สามารถที่จะลากไปมาได้และเป็นแบบไม่มีปุ่มปิด</a:t>
            </a:r>
          </a:p>
          <a:p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Radio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group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ให้เลือกระหว่าง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และ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Excel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Button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สามารถแสดงข้อความบน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Button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ได้ในส่วน หน้าจอแสดงคำว่า พิมพ์และยกเลิก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0888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  จะบันทึกข้อมูลที่ได้จากหน้าจอออกมาเป็นไฟล์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.pdf</a:t>
            </a:r>
          </a:p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Excel :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จะบันทึกข้อมูลที่ได้จากหน้าจอออกมาเป็นไฟล์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.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xlsx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พิมพ์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: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เป็นการยืนยันว่าเราจะทำการพิมพ์ข้อมูลลงในไฟล์ที่เราเลือกนั้นๆ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ยกเลิก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เป็นการเลิกทำในรายการของหน้านี้ว่าจะยังไม่พิมพ์ข้อมูลออกมา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 descr="5-20-2015 9-41-25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73" y="4094747"/>
            <a:ext cx="3895359" cy="230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7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53" y="2368610"/>
            <a:ext cx="8355388" cy="28683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" y="1877472"/>
            <a:ext cx="7955280" cy="4069080"/>
          </a:xfrm>
        </p:spPr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หน้าจอเลือกเงื่อนไข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Oval 5"/>
          <p:cNvSpPr/>
          <p:nvPr/>
        </p:nvSpPr>
        <p:spPr>
          <a:xfrm>
            <a:off x="1528587" y="2728387"/>
            <a:ext cx="214914" cy="21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Oval 6"/>
          <p:cNvSpPr/>
          <p:nvPr/>
        </p:nvSpPr>
        <p:spPr>
          <a:xfrm>
            <a:off x="5518785" y="2716097"/>
            <a:ext cx="214914" cy="21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547370" y="2368610"/>
            <a:ext cx="214914" cy="21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3</a:t>
            </a:r>
          </a:p>
        </p:txBody>
      </p:sp>
      <p:sp>
        <p:nvSpPr>
          <p:cNvPr id="9" name="Oval 8"/>
          <p:cNvSpPr/>
          <p:nvPr/>
        </p:nvSpPr>
        <p:spPr>
          <a:xfrm>
            <a:off x="93639" y="3802808"/>
            <a:ext cx="214914" cy="218407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4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08553" y="5596785"/>
            <a:ext cx="7772400" cy="11564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เลือกเงื่อนไขในสิ่งที่เราต้องการจะพิมพ์แล้วกดค้นหา ตามหมายเลขข้างต้น</a:t>
            </a:r>
            <a:b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1.-2.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เป็นการใส่เงื่อนไขการค้นหาข้อมูล 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เป็นการหาข้อมูลว่ามีหรือไม่</a:t>
            </a: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/>
            </a:r>
            <a:b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</a:t>
            </a:r>
            <a:r>
              <a:rPr lang="th-TH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ข้อมูลที่ได้จากการค้นหา</a:t>
            </a:r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712469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เมื่อได้ข้อมูลที่ต้องการ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แล้วกดที่รูปเครื่อง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ปริ้นจะ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indow Pop up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ขึ้นมาให้เลือก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ว่าจะทำการ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พิมพ์รูปแบบ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ไหนระหว่าง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หรือ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Excel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66" y="3130429"/>
            <a:ext cx="8444917" cy="3133211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5829072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เลือกพิมพ์แบบ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เมื่อกด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พิมพ์โปรแกรมจะบันทึกข้อมูลที่ได้จากหน้าจอออกมาเป็นไฟล์ .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pdf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และ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จะ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ให้เลือก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ว่าจะบันทึกข้อมูลที่ได้ไว้หรือไม่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2" descr="C:\Users\RATTHA~1.COM\AppData\Local\Temp\SNAGHTMLde0d7c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41500" y="3009900"/>
            <a:ext cx="4998339" cy="3581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758260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เลือกพิมพ์แบบ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Excel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เมื่อกด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พิมพ์โปรแกรมจะบันทึกข้อมูลที่ได้จากหน้าจอออกมาเป็นไฟล์ .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xlsx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b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และจะ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ให้เลือก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ว่าจะบันทึกข้อมูลที่ได้ไว้หรือไม่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2" descr="C:\Users\RATTHA~1.COM\AppData\Local\Temp\SNAGHTMLe08347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900" y="3022600"/>
            <a:ext cx="4891991" cy="3505200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502851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กลุ่ม 10"/>
          <p:cNvGrpSpPr/>
          <p:nvPr/>
        </p:nvGrpSpPr>
        <p:grpSpPr>
          <a:xfrm>
            <a:off x="0" y="1895661"/>
            <a:ext cx="9144000" cy="3736257"/>
            <a:chOff x="0" y="2075783"/>
            <a:chExt cx="9144000" cy="3736257"/>
          </a:xfrm>
        </p:grpSpPr>
        <p:pic>
          <p:nvPicPr>
            <p:cNvPr id="5" name="รูปภาพ 1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203"/>
            <a:stretch/>
          </p:blipFill>
          <p:spPr>
            <a:xfrm>
              <a:off x="0" y="2075783"/>
              <a:ext cx="9144000" cy="3736257"/>
            </a:xfrm>
            <a:prstGeom prst="rect">
              <a:avLst/>
            </a:prstGeom>
          </p:spPr>
        </p:pic>
        <p:sp>
          <p:nvSpPr>
            <p:cNvPr id="6" name="คำบรรยายภาพแบบสี่เหลี่ยม 12"/>
            <p:cNvSpPr/>
            <p:nvPr/>
          </p:nvSpPr>
          <p:spPr>
            <a:xfrm>
              <a:off x="5508104" y="2147791"/>
              <a:ext cx="360040" cy="273097"/>
            </a:xfrm>
            <a:prstGeom prst="wedgeRectCallout">
              <a:avLst>
                <a:gd name="adj1" fmla="val -93794"/>
                <a:gd name="adj2" fmla="val 6007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7" name="คำบรรยายภาพแบบสี่เหลี่ยม 13"/>
            <p:cNvSpPr/>
            <p:nvPr/>
          </p:nvSpPr>
          <p:spPr>
            <a:xfrm>
              <a:off x="5004048" y="2564904"/>
              <a:ext cx="360040" cy="273097"/>
            </a:xfrm>
            <a:prstGeom prst="wedgeRectCallout">
              <a:avLst>
                <a:gd name="adj1" fmla="val -93794"/>
                <a:gd name="adj2" fmla="val -10417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8" name="คำบรรยายภาพแบบสี่เหลี่ยม 14"/>
            <p:cNvSpPr/>
            <p:nvPr/>
          </p:nvSpPr>
          <p:spPr>
            <a:xfrm>
              <a:off x="539552" y="2564904"/>
              <a:ext cx="360040" cy="273097"/>
            </a:xfrm>
            <a:prstGeom prst="wedgeRectCallout">
              <a:avLst>
                <a:gd name="adj1" fmla="val -67060"/>
                <a:gd name="adj2" fmla="val 95318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9" name="คำบรรยายภาพแบบสี่เหลี่ยม 15"/>
            <p:cNvSpPr/>
            <p:nvPr/>
          </p:nvSpPr>
          <p:spPr>
            <a:xfrm>
              <a:off x="899592" y="2939878"/>
              <a:ext cx="360040" cy="273097"/>
            </a:xfrm>
            <a:prstGeom prst="wedgeRectCallout">
              <a:avLst>
                <a:gd name="adj1" fmla="val -83769"/>
                <a:gd name="adj2" fmla="val 821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4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0" name="คำบรรยายภาพแบบสี่เหลี่ยม 16"/>
            <p:cNvSpPr/>
            <p:nvPr/>
          </p:nvSpPr>
          <p:spPr>
            <a:xfrm>
              <a:off x="3150096" y="2939878"/>
              <a:ext cx="360040" cy="273097"/>
            </a:xfrm>
            <a:prstGeom prst="wedgeRectCallout">
              <a:avLst>
                <a:gd name="adj1" fmla="val -87111"/>
                <a:gd name="adj2" fmla="val 11734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5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1" name="คำบรรยายภาพแบบสี่เหลี่ยม 17"/>
            <p:cNvSpPr/>
            <p:nvPr/>
          </p:nvSpPr>
          <p:spPr>
            <a:xfrm>
              <a:off x="7956376" y="2507831"/>
              <a:ext cx="360040" cy="273097"/>
            </a:xfrm>
            <a:prstGeom prst="wedgeRectCallout">
              <a:avLst>
                <a:gd name="adj1" fmla="val -60377"/>
                <a:gd name="adj2" fmla="val 104128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6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2" name="คำบรรยายภาพแบบสี่เหลี่ยม 18"/>
            <p:cNvSpPr/>
            <p:nvPr/>
          </p:nvSpPr>
          <p:spPr>
            <a:xfrm>
              <a:off x="7020272" y="2939878"/>
              <a:ext cx="360040" cy="273097"/>
            </a:xfrm>
            <a:prstGeom prst="wedgeRectCallout">
              <a:avLst>
                <a:gd name="adj1" fmla="val 93343"/>
                <a:gd name="adj2" fmla="val 86506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7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3" name="คำบรรยายภาพแบบสี่เหลี่ยม 19"/>
            <p:cNvSpPr/>
            <p:nvPr/>
          </p:nvSpPr>
          <p:spPr>
            <a:xfrm>
              <a:off x="719572" y="5429814"/>
              <a:ext cx="360040" cy="273097"/>
            </a:xfrm>
            <a:prstGeom prst="wedgeRectCallout">
              <a:avLst>
                <a:gd name="adj1" fmla="val -103819"/>
                <a:gd name="adj2" fmla="val -89718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8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4" name="คำบรรยายภาพแบบสี่เหลี่ยม 20"/>
            <p:cNvSpPr/>
            <p:nvPr/>
          </p:nvSpPr>
          <p:spPr>
            <a:xfrm>
              <a:off x="3131840" y="4725144"/>
              <a:ext cx="360040" cy="273097"/>
            </a:xfrm>
            <a:prstGeom prst="wedgeRectCallout">
              <a:avLst>
                <a:gd name="adj1" fmla="val -26959"/>
                <a:gd name="adj2" fmla="val 165807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9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5" name="คำบรรยายภาพแบบสี่เหลี่ยม 21"/>
            <p:cNvSpPr/>
            <p:nvPr/>
          </p:nvSpPr>
          <p:spPr>
            <a:xfrm>
              <a:off x="5004048" y="4540411"/>
              <a:ext cx="360040" cy="273097"/>
            </a:xfrm>
            <a:prstGeom prst="wedgeRectCallout">
              <a:avLst>
                <a:gd name="adj1" fmla="val -107161"/>
                <a:gd name="adj2" fmla="val -50068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10</a:t>
              </a:r>
              <a:endParaRPr lang="th-TH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16" name="TextBox 4"/>
          <p:cNvSpPr txBox="1"/>
          <p:nvPr/>
        </p:nvSpPr>
        <p:spPr>
          <a:xfrm>
            <a:off x="1230920" y="5383254"/>
            <a:ext cx="7546256" cy="1311128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1.Company Name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2.Report Name		3.Program ID	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4.Criteria		5.Column-Heading		6.Page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7.Print Date		8.Total Label		9. Line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10.Data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181116" y="1777470"/>
            <a:ext cx="7955280" cy="4069080"/>
          </a:xfrm>
        </p:spPr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3390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การแสดง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-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ส่วนแสดง ชื่อรายงาน ชื่อองค์กร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</a:t>
            </a:r>
            <a:endParaRPr lang="en-US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1.Company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Name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ชื่อ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องค์กร/บริษัท จัดกึ่งกลางโดยแสดงด้านบนเป็นบรรทัดแรกของรายงาน(อ้างอิง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จาก 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: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suOrganize.OuName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ตามที่ผู้ใช้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Login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)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2.Report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Name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ชื่อ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 จัดกึ่งลางโดยแสดงบรรทัดถัดจาก ชื่อองค์กร/บริษัท (อ้างอิงจาก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Table:SuMessage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3.Program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ID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รหัส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 ชิดซ้ายรายงาน โดยแสดงบรรทัดถัดจาก ชื่อรายงาน (อ้างอิงจาก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Javascript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)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4.Criteria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การค้นหาของรายงานนั้นๆ ชิดซ้ายรายงาน โดยแสดงบรรทัดถัดจาก รหัสโปรแกรม (อ้างอิงจาก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Javascript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)</a:t>
            </a: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5.Column-Heading :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ชื่อ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คอลัมน์ โดยแสดงบรรทัดถัดจาก เงื่อนไขการค้นหา และ วันที่พิมพ์รายงาน (อ้างอิงจาก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Table : </a:t>
            </a:r>
            <a:r>
              <a:rPr lang="en-US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SuMessage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)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26688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6.Page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(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หน้าที่ปัจจุบัน/ จำนวนหน้าทั้งหมด) ชิดขวารายงาน แสดงในบรรทัดเดียวกับรหัสโปรแกรม	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7.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Print Date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วันที่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พิมพ์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รายงานแสดงใน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รูปแบบวันที่ และเวลา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HH:MM 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ชิดขวารายงาน แสดงในบรรทัดเดียวกับเงื่อนไขการค้นหา	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8.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Total Label 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จำนวน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รายการ เป็นการแสดงจำนวนรายการที่มีต่อหน้าหรือทั้งหมดของรายงานถัดจากบรรทัดสุดท้ายของข้อมูลหรือถัดจากบรรทัดสุดท้ายของรายงาน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9.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Line 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เส้น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เส้นที่คั้นระหว่างส่วนต่างๆของรายงาน คั้นชื่อคอลัมน์กับรายการ คั้นรายการกับจำนวนรายการ	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10.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Data :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/รายการ ที่ปรากฏในรายงานเป็นไปตามเงื่อนไขที่กำหนด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94919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64950" y="1551670"/>
            <a:ext cx="8979050" cy="3668858"/>
            <a:chOff x="-16804" y="1542311"/>
            <a:chExt cx="9144000" cy="3736257"/>
          </a:xfrm>
        </p:grpSpPr>
        <p:pic>
          <p:nvPicPr>
            <p:cNvPr id="7" name="รูปภาพ 11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203"/>
            <a:stretch/>
          </p:blipFill>
          <p:spPr>
            <a:xfrm>
              <a:off x="-16804" y="1542311"/>
              <a:ext cx="9144000" cy="3736257"/>
            </a:xfrm>
            <a:prstGeom prst="rect">
              <a:avLst/>
            </a:prstGeom>
          </p:spPr>
        </p:pic>
        <p:sp>
          <p:nvSpPr>
            <p:cNvPr id="8" name="คำบรรยายภาพแบบสี่เหลี่ยม 12"/>
            <p:cNvSpPr/>
            <p:nvPr/>
          </p:nvSpPr>
          <p:spPr>
            <a:xfrm>
              <a:off x="3707904" y="2492896"/>
              <a:ext cx="360040" cy="273097"/>
            </a:xfrm>
            <a:prstGeom prst="wedgeRectCallout">
              <a:avLst>
                <a:gd name="adj1" fmla="val -90452"/>
                <a:gd name="adj2" fmla="val 7329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2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9" name="สี่เหลี่ยมผืนผ้ามุมมน 23"/>
            <p:cNvSpPr/>
            <p:nvPr/>
          </p:nvSpPr>
          <p:spPr>
            <a:xfrm>
              <a:off x="179512" y="3026200"/>
              <a:ext cx="8712968" cy="1596266"/>
            </a:xfrm>
            <a:prstGeom prst="roundRect">
              <a:avLst/>
            </a:prstGeom>
            <a:solidFill>
              <a:schemeClr val="accent4"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200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0" name="คำบรรยายภาพแบบสี่เหลี่ยม 13"/>
            <p:cNvSpPr/>
            <p:nvPr/>
          </p:nvSpPr>
          <p:spPr>
            <a:xfrm>
              <a:off x="5436096" y="3284984"/>
              <a:ext cx="360040" cy="273097"/>
            </a:xfrm>
            <a:prstGeom prst="wedgeRectCallout">
              <a:avLst>
                <a:gd name="adj1" fmla="val -43668"/>
                <a:gd name="adj2" fmla="val -102935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2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1" name="คำบรรยายภาพแบบสี่เหลี่ยม 14"/>
            <p:cNvSpPr/>
            <p:nvPr/>
          </p:nvSpPr>
          <p:spPr>
            <a:xfrm>
              <a:off x="5004048" y="4956103"/>
              <a:ext cx="360040" cy="273097"/>
            </a:xfrm>
            <a:prstGeom prst="wedgeRectCallout">
              <a:avLst>
                <a:gd name="adj1" fmla="val 3115"/>
                <a:gd name="adj2" fmla="val -94123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3</a:t>
              </a:r>
              <a:endParaRPr lang="th-TH" sz="22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2" name="สี่เหลี่ยมผืนผ้ามุมมน 2"/>
            <p:cNvSpPr/>
            <p:nvPr/>
          </p:nvSpPr>
          <p:spPr>
            <a:xfrm>
              <a:off x="179512" y="2852936"/>
              <a:ext cx="8712968" cy="173264"/>
            </a:xfrm>
            <a:prstGeom prst="roundRect">
              <a:avLst/>
            </a:prstGeom>
            <a:solidFill>
              <a:schemeClr val="accent1"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200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3" name="สี่เหลี่ยมผืนผ้ามุมมน 24"/>
            <p:cNvSpPr/>
            <p:nvPr/>
          </p:nvSpPr>
          <p:spPr>
            <a:xfrm>
              <a:off x="215516" y="4605632"/>
              <a:ext cx="8712968" cy="216024"/>
            </a:xfrm>
            <a:prstGeom prst="roundRect">
              <a:avLst/>
            </a:prstGeom>
            <a:solidFill>
              <a:schemeClr val="accent3"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 sz="2000"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15" name="TextBox 4"/>
          <p:cNvSpPr txBox="1"/>
          <p:nvPr/>
        </p:nvSpPr>
        <p:spPr>
          <a:xfrm>
            <a:off x="827584" y="5373216"/>
            <a:ext cx="7546256" cy="1006429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Heading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	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    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      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Top-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&gt;Single Line	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 Detail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Line	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      Top/Bottom-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&gt;Single Line</a:t>
            </a:r>
          </a:p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 Listing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Line	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      Top-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&gt;Single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Line  Bottom-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&gt;Double Line</a:t>
            </a:r>
          </a:p>
        </p:txBody>
      </p:sp>
      <p:sp>
        <p:nvSpPr>
          <p:cNvPr id="16" name="สี่เหลี่ยมผืนผ้ามุมมน 16"/>
          <p:cNvSpPr/>
          <p:nvPr/>
        </p:nvSpPr>
        <p:spPr>
          <a:xfrm>
            <a:off x="2627784" y="5472663"/>
            <a:ext cx="288032" cy="185532"/>
          </a:xfrm>
          <a:prstGeom prst="roundRect">
            <a:avLst/>
          </a:prstGeom>
          <a:solidFill>
            <a:schemeClr val="accent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สี่เหลี่ยมผืนผ้ามุมมน 17"/>
          <p:cNvSpPr/>
          <p:nvPr/>
        </p:nvSpPr>
        <p:spPr>
          <a:xfrm>
            <a:off x="2627784" y="5753390"/>
            <a:ext cx="288032" cy="185532"/>
          </a:xfrm>
          <a:prstGeom prst="roundRect">
            <a:avLst/>
          </a:prstGeom>
          <a:solidFill>
            <a:schemeClr val="accent4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8" name="สี่เหลี่ยมผืนผ้ามุมมน 18"/>
          <p:cNvSpPr/>
          <p:nvPr/>
        </p:nvSpPr>
        <p:spPr>
          <a:xfrm>
            <a:off x="2627784" y="6041425"/>
            <a:ext cx="288032" cy="185532"/>
          </a:xfrm>
          <a:prstGeom prst="roundRect">
            <a:avLst/>
          </a:prstGeom>
          <a:solidFill>
            <a:schemeClr val="accent5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2983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228600" y="1600200"/>
            <a:ext cx="8877300" cy="2451100"/>
            <a:chOff x="127000" y="1894435"/>
            <a:chExt cx="8877300" cy="2451100"/>
          </a:xfrm>
        </p:grpSpPr>
        <p:pic>
          <p:nvPicPr>
            <p:cNvPr id="5" name="รูปภาพ 2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9" t="3527" r="1529" b="58556"/>
            <a:stretch/>
          </p:blipFill>
          <p:spPr>
            <a:xfrm>
              <a:off x="127000" y="1894435"/>
              <a:ext cx="8877300" cy="2451100"/>
            </a:xfrm>
            <a:prstGeom prst="rect">
              <a:avLst/>
            </a:prstGeom>
          </p:spPr>
        </p:pic>
        <p:sp>
          <p:nvSpPr>
            <p:cNvPr id="6" name="คำบรรยายภาพแบบสี่เหลี่ยม 22"/>
            <p:cNvSpPr/>
            <p:nvPr/>
          </p:nvSpPr>
          <p:spPr>
            <a:xfrm>
              <a:off x="3059832" y="3931012"/>
              <a:ext cx="360040" cy="273097"/>
            </a:xfrm>
            <a:prstGeom prst="wedgeRectCallout">
              <a:avLst>
                <a:gd name="adj1" fmla="val -90452"/>
                <a:gd name="adj2" fmla="val 7329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2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pic>
        <p:nvPicPr>
          <p:cNvPr id="9" name="รูปภาพ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9" t="2650" r="1805" b="58451"/>
          <a:stretch/>
        </p:blipFill>
        <p:spPr>
          <a:xfrm>
            <a:off x="139700" y="4051300"/>
            <a:ext cx="8851900" cy="2514600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3059832" y="5889499"/>
            <a:ext cx="3456384" cy="402178"/>
            <a:chOff x="3059832" y="6105399"/>
            <a:chExt cx="3456384" cy="402178"/>
          </a:xfrm>
        </p:grpSpPr>
        <p:sp>
          <p:nvSpPr>
            <p:cNvPr id="10" name="คำบรรยายภาพแบบสี่เหลี่ยม 23"/>
            <p:cNvSpPr/>
            <p:nvPr/>
          </p:nvSpPr>
          <p:spPr>
            <a:xfrm>
              <a:off x="3059832" y="6105399"/>
              <a:ext cx="360040" cy="273097"/>
            </a:xfrm>
            <a:prstGeom prst="wedgeRectCallout">
              <a:avLst>
                <a:gd name="adj1" fmla="val -90452"/>
                <a:gd name="adj2" fmla="val 7329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1</a:t>
              </a:r>
              <a:endParaRPr lang="th-TH" sz="22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  <p:sp>
          <p:nvSpPr>
            <p:cNvPr id="11" name="คำบรรยายภาพแบบสี่เหลี่ยม 24"/>
            <p:cNvSpPr/>
            <p:nvPr/>
          </p:nvSpPr>
          <p:spPr>
            <a:xfrm>
              <a:off x="6156176" y="6234480"/>
              <a:ext cx="360040" cy="273097"/>
            </a:xfrm>
            <a:prstGeom prst="wedgeRectCallout">
              <a:avLst>
                <a:gd name="adj1" fmla="val -36984"/>
                <a:gd name="adj2" fmla="val 112939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dirty="0" smtClean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2</a:t>
              </a:r>
              <a:endParaRPr lang="th-TH" sz="22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endParaRPr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6497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3306805"/>
            <a:ext cx="7955280" cy="34368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1.Control Break Total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จำนวน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รายการ(เป็นจำนวนรายการของรายงานหน้านั้นๆหรือส่วนนั้นๆ)แสดงถัดจากบรรทัดสุดท้ายของ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		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Top-&gt;Single Line</a:t>
            </a:r>
          </a:p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		Bottom-&gt;Double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Line</a:t>
            </a: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. Grand Total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จำนวน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รายการทั้งหมด (เป็นจำนวนรายการของรายงานทั้งหมด) แสดงถัดจากบรรทัดสุดท้ายของรายงาน รายงาน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Listing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ทั้งหมด ต้องแสดงจำนวนรายการทั้งหมดไว้บรรทัดสุดท้าย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เสมอ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		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Bottom-&gt;Double Line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29260" y="1864871"/>
            <a:ext cx="5257165" cy="1205357"/>
            <a:chOff x="0" y="1676400"/>
            <a:chExt cx="6058585" cy="1389105"/>
          </a:xfrm>
        </p:grpSpPr>
        <p:pic>
          <p:nvPicPr>
            <p:cNvPr id="5" name="รูปภาพ 9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633" r="73625" b="58911"/>
            <a:stretch/>
          </p:blipFill>
          <p:spPr>
            <a:xfrm>
              <a:off x="0" y="1676400"/>
              <a:ext cx="6029400" cy="720080"/>
            </a:xfrm>
            <a:prstGeom prst="rect">
              <a:avLst/>
            </a:prstGeom>
          </p:spPr>
        </p:pic>
        <p:pic>
          <p:nvPicPr>
            <p:cNvPr id="6" name="รูปภาพ 10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593" r="74150" b="58776"/>
            <a:stretch/>
          </p:blipFill>
          <p:spPr>
            <a:xfrm>
              <a:off x="35496" y="2468489"/>
              <a:ext cx="6012160" cy="597016"/>
            </a:xfrm>
            <a:prstGeom prst="rect">
              <a:avLst/>
            </a:prstGeom>
          </p:spPr>
        </p:pic>
        <p:grpSp>
          <p:nvGrpSpPr>
            <p:cNvPr id="7" name="กลุ่ม 4"/>
            <p:cNvGrpSpPr/>
            <p:nvPr/>
          </p:nvGrpSpPr>
          <p:grpSpPr>
            <a:xfrm>
              <a:off x="609600" y="1676400"/>
              <a:ext cx="5448985" cy="1338867"/>
              <a:chOff x="609600" y="2348879"/>
              <a:chExt cx="5448985" cy="1338867"/>
            </a:xfrm>
          </p:grpSpPr>
          <p:grpSp>
            <p:nvGrpSpPr>
              <p:cNvPr id="8" name="กลุ่ม 3"/>
              <p:cNvGrpSpPr/>
              <p:nvPr/>
            </p:nvGrpSpPr>
            <p:grpSpPr>
              <a:xfrm>
                <a:off x="609600" y="2348879"/>
                <a:ext cx="5448985" cy="648072"/>
                <a:chOff x="609600" y="2348879"/>
                <a:chExt cx="5448985" cy="648072"/>
              </a:xfrm>
            </p:grpSpPr>
            <p:sp>
              <p:nvSpPr>
                <p:cNvPr id="12" name="สี่เหลี่ยมผืนผ้ามุมมน 14"/>
                <p:cNvSpPr/>
                <p:nvPr/>
              </p:nvSpPr>
              <p:spPr>
                <a:xfrm>
                  <a:off x="609600" y="2348879"/>
                  <a:ext cx="5448985" cy="648072"/>
                </a:xfrm>
                <a:prstGeom prst="roundRect">
                  <a:avLst/>
                </a:prstGeom>
                <a:solidFill>
                  <a:schemeClr val="accent1">
                    <a:alpha val="3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sz="2200">
                    <a:latin typeface="AngsanaUPC" panose="02020603050405020304" pitchFamily="18" charset="-34"/>
                    <a:cs typeface="AngsanaUPC" panose="02020603050405020304" pitchFamily="18" charset="-34"/>
                  </a:endParaRPr>
                </a:p>
              </p:txBody>
            </p:sp>
            <p:sp>
              <p:nvSpPr>
                <p:cNvPr id="13" name="คำบรรยายภาพแบบสี่เหลี่ยม 12"/>
                <p:cNvSpPr/>
                <p:nvPr/>
              </p:nvSpPr>
              <p:spPr>
                <a:xfrm>
                  <a:off x="4860032" y="2492896"/>
                  <a:ext cx="360040" cy="273097"/>
                </a:xfrm>
                <a:prstGeom prst="wedgeRectCallout">
                  <a:avLst>
                    <a:gd name="adj1" fmla="val -115175"/>
                    <a:gd name="adj2" fmla="val -48196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 smtClean="0">
                      <a:solidFill>
                        <a:schemeClr val="tx1"/>
                      </a:solidFill>
                      <a:latin typeface="AngsanaUPC" panose="02020603050405020304" pitchFamily="18" charset="-34"/>
                      <a:cs typeface="AngsanaUPC" panose="02020603050405020304" pitchFamily="18" charset="-34"/>
                    </a:rPr>
                    <a:t>1</a:t>
                  </a:r>
                  <a:endParaRPr lang="th-TH" sz="2200" b="1" dirty="0">
                    <a:solidFill>
                      <a:schemeClr val="tx1"/>
                    </a:solidFill>
                    <a:latin typeface="AngsanaUPC" panose="02020603050405020304" pitchFamily="18" charset="-34"/>
                    <a:cs typeface="AngsanaUPC" panose="02020603050405020304" pitchFamily="18" charset="-34"/>
                  </a:endParaRPr>
                </a:p>
              </p:txBody>
            </p:sp>
          </p:grpSp>
          <p:grpSp>
            <p:nvGrpSpPr>
              <p:cNvPr id="9" name="กลุ่ม 2"/>
              <p:cNvGrpSpPr/>
              <p:nvPr/>
            </p:nvGrpSpPr>
            <p:grpSpPr>
              <a:xfrm>
                <a:off x="609600" y="3068959"/>
                <a:ext cx="5419800" cy="618787"/>
                <a:chOff x="609600" y="3068959"/>
                <a:chExt cx="5419800" cy="618787"/>
              </a:xfrm>
            </p:grpSpPr>
            <p:sp>
              <p:nvSpPr>
                <p:cNvPr id="10" name="สี่เหลี่ยมผืนผ้ามุมมน 15"/>
                <p:cNvSpPr/>
                <p:nvPr/>
              </p:nvSpPr>
              <p:spPr>
                <a:xfrm>
                  <a:off x="609600" y="3068959"/>
                  <a:ext cx="5419800" cy="618787"/>
                </a:xfrm>
                <a:prstGeom prst="roundRect">
                  <a:avLst/>
                </a:prstGeom>
                <a:solidFill>
                  <a:schemeClr val="accent3">
                    <a:alpha val="37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th-TH" sz="2200">
                    <a:latin typeface="AngsanaUPC" panose="02020603050405020304" pitchFamily="18" charset="-34"/>
                    <a:cs typeface="AngsanaUPC" panose="02020603050405020304" pitchFamily="18" charset="-34"/>
                  </a:endParaRPr>
                </a:p>
              </p:txBody>
            </p:sp>
            <p:sp>
              <p:nvSpPr>
                <p:cNvPr id="11" name="คำบรรยายภาพแบบสี่เหลี่ยม 13"/>
                <p:cNvSpPr/>
                <p:nvPr/>
              </p:nvSpPr>
              <p:spPr>
                <a:xfrm>
                  <a:off x="5453844" y="3140968"/>
                  <a:ext cx="360040" cy="273097"/>
                </a:xfrm>
                <a:prstGeom prst="wedgeRectCallout">
                  <a:avLst>
                    <a:gd name="adj1" fmla="val -36984"/>
                    <a:gd name="adj2" fmla="val 112939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200" b="1" dirty="0" smtClean="0">
                      <a:solidFill>
                        <a:schemeClr val="tx1"/>
                      </a:solidFill>
                      <a:latin typeface="AngsanaUPC" panose="02020603050405020304" pitchFamily="18" charset="-34"/>
                      <a:cs typeface="AngsanaUPC" panose="02020603050405020304" pitchFamily="18" charset="-34"/>
                    </a:rPr>
                    <a:t>2</a:t>
                  </a:r>
                  <a:endParaRPr lang="th-TH" sz="2200" b="1" dirty="0">
                    <a:solidFill>
                      <a:schemeClr val="tx1"/>
                    </a:solidFill>
                    <a:latin typeface="AngsanaUPC" panose="02020603050405020304" pitchFamily="18" charset="-34"/>
                    <a:cs typeface="AngsanaUPC" panose="02020603050405020304" pitchFamily="18" charset="-34"/>
                  </a:endParaRPr>
                </a:p>
              </p:txBody>
            </p:sp>
          </p:grpSp>
        </p:grpSp>
      </p:grpSp>
      <p:sp>
        <p:nvSpPr>
          <p:cNvPr id="14" name="สี่เหลี่ยมผืนผ้ามุมมน 17"/>
          <p:cNvSpPr/>
          <p:nvPr/>
        </p:nvSpPr>
        <p:spPr>
          <a:xfrm>
            <a:off x="1985268" y="5237286"/>
            <a:ext cx="288032" cy="185532"/>
          </a:xfrm>
          <a:prstGeom prst="roundRect">
            <a:avLst/>
          </a:prstGeom>
          <a:solidFill>
            <a:srgbClr val="F8E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5" name="สี่เหลี่ยมผืนผ้ามุมมน 17"/>
          <p:cNvSpPr/>
          <p:nvPr/>
        </p:nvSpPr>
        <p:spPr>
          <a:xfrm>
            <a:off x="2569468" y="3380367"/>
            <a:ext cx="288032" cy="185532"/>
          </a:xfrm>
          <a:prstGeom prst="roundRect">
            <a:avLst/>
          </a:prstGeom>
          <a:solidFill>
            <a:srgbClr val="E9AE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8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03"/>
          <a:stretch/>
        </p:blipFill>
        <p:spPr>
          <a:xfrm>
            <a:off x="430162" y="2158037"/>
            <a:ext cx="8424936" cy="3442446"/>
          </a:xfrm>
          <a:prstGeom prst="rect">
            <a:avLst/>
          </a:prstGeom>
        </p:spPr>
      </p:pic>
      <p:sp>
        <p:nvSpPr>
          <p:cNvPr id="5" name="สี่เหลี่ยมผืนผ้า 2"/>
          <p:cNvSpPr/>
          <p:nvPr/>
        </p:nvSpPr>
        <p:spPr>
          <a:xfrm>
            <a:off x="70122" y="1819299"/>
            <a:ext cx="9073878" cy="39722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sz="220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6" name="ตัวเชื่อมต่อตรง 7"/>
          <p:cNvCxnSpPr/>
          <p:nvPr/>
        </p:nvCxnSpPr>
        <p:spPr>
          <a:xfrm>
            <a:off x="4606626" y="1819300"/>
            <a:ext cx="0" cy="43204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ตัวเชื่อมต่อตรง 23"/>
          <p:cNvCxnSpPr/>
          <p:nvPr/>
        </p:nvCxnSpPr>
        <p:spPr>
          <a:xfrm>
            <a:off x="4606626" y="5359474"/>
            <a:ext cx="0" cy="43204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ตัวเชื่อมต่อตรง 27"/>
          <p:cNvCxnSpPr/>
          <p:nvPr/>
        </p:nvCxnSpPr>
        <p:spPr>
          <a:xfrm rot="5400000">
            <a:off x="8927106" y="3835524"/>
            <a:ext cx="0" cy="43204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ตัวเชื่อมต่อตรง 29"/>
          <p:cNvCxnSpPr/>
          <p:nvPr/>
        </p:nvCxnSpPr>
        <p:spPr>
          <a:xfrm rot="5400000">
            <a:off x="286146" y="3835524"/>
            <a:ext cx="0" cy="432048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วงเล็บปีกกาคู่ 31"/>
          <p:cNvSpPr/>
          <p:nvPr/>
        </p:nvSpPr>
        <p:spPr>
          <a:xfrm>
            <a:off x="4720926" y="1963316"/>
            <a:ext cx="893812" cy="288032"/>
          </a:xfrm>
          <a:prstGeom prst="bracePair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20 </a:t>
            </a:r>
            <a:r>
              <a:rPr lang="en-US" sz="2200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px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วงเล็บปีกกาคู่ 33"/>
          <p:cNvSpPr/>
          <p:nvPr/>
        </p:nvSpPr>
        <p:spPr>
          <a:xfrm>
            <a:off x="3557296" y="5441108"/>
            <a:ext cx="893812" cy="288032"/>
          </a:xfrm>
          <a:prstGeom prst="bracePair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20 </a:t>
            </a:r>
            <a:r>
              <a:rPr lang="en-US" sz="2200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px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2" name="วงเล็บปีกกาคู่ 34"/>
          <p:cNvSpPr/>
          <p:nvPr/>
        </p:nvSpPr>
        <p:spPr>
          <a:xfrm>
            <a:off x="8207658" y="4143011"/>
            <a:ext cx="893812" cy="288032"/>
          </a:xfrm>
          <a:prstGeom prst="bracePair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20 </a:t>
            </a:r>
            <a:r>
              <a:rPr lang="en-US" sz="2200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px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วงเล็บปีกกาคู่ 35"/>
          <p:cNvSpPr/>
          <p:nvPr/>
        </p:nvSpPr>
        <p:spPr>
          <a:xfrm>
            <a:off x="91492" y="3661394"/>
            <a:ext cx="893812" cy="288032"/>
          </a:xfrm>
          <a:prstGeom prst="bracePair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20 </a:t>
            </a:r>
            <a:r>
              <a:rPr lang="en-US" sz="2200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px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502170" y="6011991"/>
            <a:ext cx="7546256" cy="405496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 Top Bottom Left and Right  Margin = 20 </a:t>
            </a:r>
            <a:r>
              <a:rPr lang="en-US" sz="2200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px</a:t>
            </a: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3220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Heading Items </a:t>
            </a:r>
          </a:p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Display All Pages of Report (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แสดงในทุกหน้าของรายงาน หากขึ้นหน้าใหม่จะต้องทำการแสดงในส่วน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ของ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Heading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Items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อีกครั้ง ได้แก่)</a:t>
            </a:r>
          </a:p>
          <a:p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Company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Name, Report Name, Program ID, Criteria, Page, Print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Date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Control Break / Total Items</a:t>
            </a:r>
          </a:p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Last Page of Record/Report (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แสดงผลรวม ในหน้าสุดท้ายของรายงาน)</a:t>
            </a:r>
          </a:p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Master-Detail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/ Colum Heading</a:t>
            </a:r>
          </a:p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Display All of Pages Report (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แสดงข้อมูลและแสดงชื่อคอลัมน์ในทุกหน้าของรายงาน หากขึ้นหน้าใหม่จะต้องทำการแสดงในส่วนของ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Column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Heading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อีกครั้ง)</a:t>
            </a:r>
          </a:p>
          <a:p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6527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Report Format : Alignment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graphicFrame>
        <p:nvGraphicFramePr>
          <p:cNvPr id="4" name="ตาราง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968280"/>
              </p:ext>
            </p:extLst>
          </p:nvPr>
        </p:nvGraphicFramePr>
        <p:xfrm>
          <a:off x="594360" y="2582100"/>
          <a:ext cx="7842262" cy="416159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31228"/>
                <a:gridCol w="2460624"/>
                <a:gridCol w="2050410"/>
              </a:tblGrid>
              <a:tr h="4944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Format</a:t>
                      </a:r>
                      <a:endParaRPr lang="th-TH" sz="24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Alignment</a:t>
                      </a:r>
                      <a:endParaRPr lang="th-TH" sz="24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Example</a:t>
                      </a:r>
                      <a:endParaRPr lang="th-TH" sz="24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</a:tr>
              <a:tr h="494479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- Number </a:t>
                      </a:r>
                      <a:r>
                        <a:rPr lang="th-TH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ตัวเลข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Right Align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10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</a:tr>
              <a:tr h="1380686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- </a:t>
                      </a:r>
                      <a:r>
                        <a:rPr lang="th-TH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ถ้าเป็นจำนวนสิ่งของ</a:t>
                      </a:r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/</a:t>
                      </a:r>
                      <a:r>
                        <a:rPr lang="th-TH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รายการ 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Right Align</a:t>
                      </a:r>
                      <a:endParaRPr lang="th-TH" sz="2100" dirty="0" smtClean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  <a:p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Comma</a:t>
                      </a:r>
                      <a:r>
                        <a:rPr lang="en-US" sz="21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(,)</a:t>
                      </a:r>
                    </a:p>
                    <a:p>
                      <a:r>
                        <a:rPr lang="en-US" sz="21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Unit</a:t>
                      </a:r>
                    </a:p>
                    <a:p>
                      <a:r>
                        <a:rPr lang="en-US" sz="21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Not Show Decimal 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100,000 </a:t>
                      </a:r>
                      <a:r>
                        <a:rPr lang="th-TH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ชิ้น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</a:tr>
              <a:tr h="1057547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-</a:t>
                      </a:r>
                      <a:r>
                        <a:rPr lang="en-US" sz="21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th-TH" sz="21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ถ้าเป็นจำนวนเงิน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Right Align</a:t>
                      </a:r>
                      <a:endParaRPr lang="th-TH" sz="2100" dirty="0" smtClean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  <a:p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Comma</a:t>
                      </a:r>
                      <a:r>
                        <a:rPr lang="en-US" sz="21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(,)</a:t>
                      </a:r>
                    </a:p>
                    <a:p>
                      <a:r>
                        <a:rPr lang="en-US" sz="21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Show Decimal </a:t>
                      </a:r>
                      <a:endParaRPr lang="th-TH" sz="2100" dirty="0" smtClean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1,000,000.45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</a:tr>
              <a:tr h="734408">
                <a:tc>
                  <a:txBody>
                    <a:bodyPr/>
                    <a:lstStyle/>
                    <a:p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-</a:t>
                      </a:r>
                      <a:r>
                        <a:rPr lang="th-TH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ถ้าเป็นจำนวนเงินรวม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r>
                        <a:rPr lang="th-TH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กำหนดความกว้างให้แสดงได้ถึงหลักพันล้าน</a:t>
                      </a:r>
                    </a:p>
                  </a:txBody>
                  <a:tcPr marL="88129" marR="88129" marT="44064" marB="44064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1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1,000,000,000.00</a:t>
                      </a:r>
                      <a:endParaRPr lang="th-TH" sz="21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88129" marR="88129" marT="44064" marB="44064" anchor="ctr"/>
                </a:tc>
              </a:tr>
            </a:tbl>
          </a:graphicData>
        </a:graphic>
      </p:graphicFrame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7313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ตาราง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108002"/>
              </p:ext>
            </p:extLst>
          </p:nvPr>
        </p:nvGraphicFramePr>
        <p:xfrm>
          <a:off x="378643" y="2687458"/>
          <a:ext cx="8506168" cy="3218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613241"/>
                <a:gridCol w="2333551"/>
                <a:gridCol w="2559376"/>
              </a:tblGrid>
              <a:tr h="536340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Format</a:t>
                      </a:r>
                      <a:endParaRPr lang="th-TH" sz="25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Alignment</a:t>
                      </a:r>
                      <a:endParaRPr lang="th-TH" sz="25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Example</a:t>
                      </a:r>
                      <a:endParaRPr lang="th-TH" sz="25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</a:tr>
              <a:tr h="536340"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Char</a:t>
                      </a:r>
                      <a:r>
                        <a:rPr lang="th-TH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ตัวอักษร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Left Align</a:t>
                      </a: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SoftInter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</a:tr>
              <a:tr h="536340"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Date</a:t>
                      </a:r>
                      <a:r>
                        <a:rPr lang="th-TH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วันที่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Center Align</a:t>
                      </a: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19/05/2558</a:t>
                      </a:r>
                      <a:r>
                        <a:rPr lang="th-TH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 </a:t>
                      </a:r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12:00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</a:tr>
              <a:tr h="536340"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Page</a:t>
                      </a:r>
                      <a:r>
                        <a:rPr lang="th-TH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หน้าที่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Right Align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1/5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</a:tr>
              <a:tr h="536340"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Print Date</a:t>
                      </a:r>
                      <a:r>
                        <a:rPr lang="th-TH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วันที่พิมพ์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Right Align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19/05/2558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</a:tr>
              <a:tr h="536340"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Column Heading </a:t>
                      </a:r>
                      <a:r>
                        <a:rPr lang="th-TH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ชื่อคอลัมน์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Center Align</a:t>
                      </a:r>
                    </a:p>
                  </a:txBody>
                  <a:tcPr marL="95590" marR="95590" marT="47795" marB="4779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User</a:t>
                      </a:r>
                      <a:r>
                        <a:rPr lang="en-US" sz="2300" baseline="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 </a:t>
                      </a:r>
                      <a:r>
                        <a:rPr lang="en-US" sz="2300" dirty="0" smtClean="0">
                          <a:effectLst/>
                          <a:latin typeface="AngsanaUPC" panose="02020603050405020304" pitchFamily="18" charset="-34"/>
                          <a:cs typeface="AngsanaUPC" panose="02020603050405020304" pitchFamily="18" charset="-34"/>
                        </a:rPr>
                        <a:t>ID</a:t>
                      </a:r>
                      <a:endParaRPr lang="th-TH" sz="2300" dirty="0">
                        <a:effectLst/>
                        <a:latin typeface="AngsanaUPC" panose="02020603050405020304" pitchFamily="18" charset="-34"/>
                        <a:cs typeface="AngsanaUPC" panose="02020603050405020304" pitchFamily="18" charset="-34"/>
                      </a:endParaRPr>
                    </a:p>
                  </a:txBody>
                  <a:tcPr marL="95590" marR="95590" marT="47795" marB="47795" anchor="ctr"/>
                </a:tc>
              </a:tr>
            </a:tbl>
          </a:graphicData>
        </a:graphic>
      </p:graphicFrame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94360" y="2194560"/>
            <a:ext cx="7955280" cy="4069080"/>
          </a:xfrm>
        </p:spPr>
        <p:txBody>
          <a:bodyPr/>
          <a:lstStyle/>
          <a:p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Report Format : Alignment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3630324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919138"/>
            <a:ext cx="7955280" cy="4069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Company Name</a:t>
            </a:r>
          </a:p>
          <a:p>
            <a:pPr marL="342900" indent="-342900"/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Angsana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New, Bold, 16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u="sng" dirty="0" smtClean="0">
              <a:solidFill>
                <a:srgbClr val="F9520F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u="sng" dirty="0" smtClean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Report </a:t>
            </a:r>
            <a:r>
              <a:rPr lang="en-US" b="1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Name, Heading-Program ID, Criteria, Page, Print Date, Heading, Detail, Total Label</a:t>
            </a:r>
          </a:p>
          <a:p>
            <a:pPr marL="342900" indent="-342900"/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Angsana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New, Bold, 14</a:t>
            </a: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b="1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Data</a:t>
            </a:r>
            <a:endParaRPr lang="th-TH" b="1" u="sng" dirty="0">
              <a:solidFill>
                <a:srgbClr val="F9520F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457200" indent="-457200"/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Angsana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New, Regular, 14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รูปภาพ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08" y="2891138"/>
            <a:ext cx="2197100" cy="419100"/>
          </a:xfrm>
          <a:prstGeom prst="rect">
            <a:avLst/>
          </a:prstGeom>
        </p:spPr>
      </p:pic>
      <p:pic>
        <p:nvPicPr>
          <p:cNvPr id="5" name="รูปภาพ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08" y="4450738"/>
            <a:ext cx="2197100" cy="419100"/>
          </a:xfrm>
          <a:prstGeom prst="rect">
            <a:avLst/>
          </a:prstGeom>
        </p:spPr>
      </p:pic>
      <p:pic>
        <p:nvPicPr>
          <p:cNvPr id="6" name="รูปภาพ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08" y="5800788"/>
            <a:ext cx="2197100" cy="4191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5768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797953"/>
            <a:ext cx="7955280" cy="40690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Report Criteria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ที่แสดงในรายงาน จะแสดงแตกต่างกันไปตามเงื่อนไขที่กำหนด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เช่น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1"/>
            <a:r>
              <a:rPr lang="en-US" sz="2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All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: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หมายถึงไม่ได้ระบุเงื่อนไขใดๆ จะแสดงข้อมูลที่มีทั้งหมดใน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1"/>
            <a:r>
              <a:rPr lang="en-US" sz="2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From - To :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หมายถึงมีการระบุ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เงื่อนไข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ในส่วนของ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From(A)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To(B)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จะแสดงข้อมูล ตั้งแต่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A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จนถึง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B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เท่านั้นใน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1"/>
            <a:r>
              <a:rPr lang="en-US" sz="2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From - End :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หมายถึงมีการระบุเงื่อนไขในส่วนของ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From(A)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แต่ในส่วนของ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To(B)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ไม่ได้ระบุจะแสดงข้อมูล จาก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A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เป็นต้นไปจนถึงสิ้นสุด ใน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1"/>
            <a:r>
              <a:rPr lang="en-US" sz="22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Start – To :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หมายถึงไม่ได้ระบุเงื่อนไขในส่วนของ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From(A)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แต่ในส่วนของ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To(B)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ได้มีการระบุเงื่อนไข จะแสดงข้อมูล ตั้งแต่เริ่มต้น จนถึง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B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ใน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รายงาน</a:t>
            </a:r>
            <a:endParaRPr lang="th-TH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7252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4500" y="2286001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Program: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5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67" y="2825238"/>
            <a:ext cx="8846033" cy="646144"/>
          </a:xfrm>
          <a:prstGeom prst="rect">
            <a:avLst/>
          </a:prstGeom>
        </p:spPr>
      </p:pic>
      <p:sp>
        <p:nvSpPr>
          <p:cNvPr id="6" name="TextBox 4"/>
          <p:cNvSpPr txBox="1"/>
          <p:nvPr/>
        </p:nvSpPr>
        <p:spPr>
          <a:xfrm>
            <a:off x="444984" y="3701190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Report: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รูปภาพ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265"/>
          <a:stretch/>
        </p:blipFill>
        <p:spPr>
          <a:xfrm>
            <a:off x="124885" y="4239219"/>
            <a:ext cx="8963596" cy="1757538"/>
          </a:xfrm>
          <a:prstGeom prst="rect">
            <a:avLst/>
          </a:prstGeom>
        </p:spPr>
      </p:pic>
      <p:pic>
        <p:nvPicPr>
          <p:cNvPr id="8" name="รูปภาพ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80" y="5117988"/>
            <a:ext cx="1080120" cy="476559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83667" y="1755535"/>
            <a:ext cx="7955280" cy="443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4F271C"/>
                </a:solidFill>
                <a:latin typeface="AngsanaUPC" panose="02020603050405020304" pitchFamily="18" charset="-34"/>
                <a:ea typeface="Tahoma" panose="020B0604030504040204" pitchFamily="34" charset="0"/>
                <a:cs typeface="AngsanaUPC" panose="02020603050405020304" pitchFamily="18" charset="-34"/>
              </a:rPr>
              <a:t>Report Criteria : ALL </a:t>
            </a:r>
            <a:endParaRPr lang="th-TH" sz="22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719038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0568" y="2415560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Program: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9887" y="4097966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Report: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6" name="รูปภาพ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3" y="4734631"/>
            <a:ext cx="9144000" cy="1792224"/>
          </a:xfrm>
          <a:prstGeom prst="rect">
            <a:avLst/>
          </a:prstGeom>
        </p:spPr>
      </p:pic>
      <p:pic>
        <p:nvPicPr>
          <p:cNvPr id="7" name="รูปภาพ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5648176"/>
            <a:ext cx="1080120" cy="476559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496" y="3116305"/>
            <a:ext cx="9144000" cy="70617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83667" y="1755535"/>
            <a:ext cx="7955280" cy="443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F271C"/>
                </a:solidFill>
                <a:latin typeface="AngsanaUPC" panose="02020603050405020304" pitchFamily="18" charset="-34"/>
                <a:ea typeface="Tahoma" panose="020B0604030504040204" pitchFamily="34" charset="0"/>
                <a:cs typeface="AngsanaUPC" panose="02020603050405020304" pitchFamily="18" charset="-34"/>
              </a:rPr>
              <a:t>Report Criteria : From - To </a:t>
            </a:r>
            <a:endParaRPr lang="th-TH" sz="22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5840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3667" y="1755535"/>
            <a:ext cx="7955280" cy="443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F271C"/>
                </a:solidFill>
                <a:latin typeface="AngsanaUPC" panose="02020603050405020304" pitchFamily="18" charset="-34"/>
                <a:ea typeface="Tahoma" panose="020B0604030504040204" pitchFamily="34" charset="0"/>
                <a:cs typeface="AngsanaUPC" panose="02020603050405020304" pitchFamily="18" charset="-34"/>
              </a:rPr>
              <a:t>Report Criteria : From - </a:t>
            </a:r>
            <a:r>
              <a:rPr lang="en-US" sz="2400" b="1" dirty="0" smtClean="0">
                <a:solidFill>
                  <a:srgbClr val="4F271C"/>
                </a:solidFill>
                <a:latin typeface="AngsanaUPC" panose="02020603050405020304" pitchFamily="18" charset="-34"/>
                <a:ea typeface="Tahoma" panose="020B0604030504040204" pitchFamily="34" charset="0"/>
                <a:cs typeface="AngsanaUPC" panose="02020603050405020304" pitchFamily="18" charset="-34"/>
              </a:rPr>
              <a:t>End </a:t>
            </a:r>
            <a:endParaRPr lang="th-TH" sz="22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9888" y="2419680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Program: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599887" y="3958266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Report: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รูปภาพ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93" y="4594931"/>
            <a:ext cx="9144000" cy="1792224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496" y="2976605"/>
            <a:ext cx="9144000" cy="706170"/>
          </a:xfrm>
          <a:prstGeom prst="rect">
            <a:avLst/>
          </a:prstGeom>
        </p:spPr>
      </p:pic>
      <p:pic>
        <p:nvPicPr>
          <p:cNvPr id="9" name="รูปภาพ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324" y="5551139"/>
            <a:ext cx="1080120" cy="47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6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3667" y="1755535"/>
            <a:ext cx="7955280" cy="443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F271C"/>
                </a:solidFill>
                <a:latin typeface="AngsanaUPC" panose="02020603050405020304" pitchFamily="18" charset="-34"/>
                <a:ea typeface="Tahoma" panose="020B0604030504040204" pitchFamily="34" charset="0"/>
                <a:cs typeface="AngsanaUPC" panose="02020603050405020304" pitchFamily="18" charset="-34"/>
              </a:rPr>
              <a:t>Report Criteria : Start - To</a:t>
            </a:r>
            <a:endParaRPr lang="th-TH" sz="22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5384" y="2394280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Program: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35383" y="3932866"/>
            <a:ext cx="8004559" cy="764825"/>
          </a:xfrm>
          <a:prstGeom prst="rect">
            <a:avLst/>
          </a:prstGeom>
          <a:noFill/>
          <a:ln w="34925" cmpd="sng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u="sng" dirty="0">
                <a:solidFill>
                  <a:srgbClr val="F9520F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Report: Criteria 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>
              <a:effectLst>
                <a:outerShdw blurRad="50800" dist="38100" dir="2700000" algn="tl">
                  <a:schemeClr val="bg2">
                    <a:lumMod val="50000"/>
                    <a:alpha val="43000"/>
                  </a:schemeClr>
                </a:outerShdw>
              </a:effectLst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รูปภาพ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9" y="4569531"/>
            <a:ext cx="9144000" cy="1792224"/>
          </a:xfrm>
          <a:prstGeom prst="rect">
            <a:avLst/>
          </a:prstGeom>
        </p:spPr>
      </p:pic>
      <p:pic>
        <p:nvPicPr>
          <p:cNvPr id="8" name="รูปภาพ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120" y="5495776"/>
            <a:ext cx="1080120" cy="476559"/>
          </a:xfrm>
          <a:prstGeom prst="rect">
            <a:avLst/>
          </a:prstGeom>
        </p:spPr>
      </p:pic>
      <p:pic>
        <p:nvPicPr>
          <p:cNvPr id="9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1205"/>
            <a:ext cx="9144000" cy="706170"/>
          </a:xfrm>
          <a:prstGeom prst="rect">
            <a:avLst/>
          </a:prstGeom>
        </p:spPr>
      </p:pic>
      <p:pic>
        <p:nvPicPr>
          <p:cNvPr id="10" name="Picture 9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588" y="6263200"/>
            <a:ext cx="618750" cy="607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/>
          <a:lstStyle/>
          <a:p>
            <a:pPr algn="l"/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8. การจัดทำรายงาน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18696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9. การนำเข้าและส่งออก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Export Excel, CSV 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ตาม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Format </a:t>
            </a:r>
            <a:r>
              <a:rPr lang="th-TH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</a:t>
            </a:r>
            <a:r>
              <a:rPr lang="th-TH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กำหนด</a:t>
            </a:r>
            <a:r>
              <a:rPr lang="en-US" sz="24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: Import </a:t>
            </a:r>
            <a:r>
              <a:rPr lang="en-US" sz="24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files</a:t>
            </a:r>
          </a:p>
        </p:txBody>
      </p:sp>
      <p:sp>
        <p:nvSpPr>
          <p:cNvPr id="5" name="Flowchart: Magnetic Disk 4"/>
          <p:cNvSpPr/>
          <p:nvPr/>
        </p:nvSpPr>
        <p:spPr>
          <a:xfrm>
            <a:off x="5638800" y="2947554"/>
            <a:ext cx="2916274" cy="3605646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ERP</a:t>
            </a: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Flowchart: Multidocument 5"/>
          <p:cNvSpPr/>
          <p:nvPr/>
        </p:nvSpPr>
        <p:spPr>
          <a:xfrm flipH="1">
            <a:off x="6400800" y="5585228"/>
            <a:ext cx="1260548" cy="867526"/>
          </a:xfrm>
          <a:prstGeom prst="flowChartMultidocumen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Actual table</a:t>
            </a:r>
            <a:endParaRPr lang="en-US" sz="2000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5837319" y="4307031"/>
            <a:ext cx="1076900" cy="838200"/>
          </a:xfrm>
          <a:prstGeom prst="flowChartAlternateProcess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Stored procedure</a:t>
            </a:r>
            <a:endParaRPr lang="en-US" sz="2000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8" name="Flowchart: Multidocument 7"/>
          <p:cNvSpPr/>
          <p:nvPr/>
        </p:nvSpPr>
        <p:spPr>
          <a:xfrm flipH="1">
            <a:off x="3927546" y="4371108"/>
            <a:ext cx="1081673" cy="914400"/>
          </a:xfrm>
          <a:prstGeom prst="flowChartMultidocumen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sz="2000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9" name="Flowchart: Process 8"/>
          <p:cNvSpPr/>
          <p:nvPr/>
        </p:nvSpPr>
        <p:spPr>
          <a:xfrm>
            <a:off x="533400" y="3252354"/>
            <a:ext cx="2632148" cy="28956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Other system</a:t>
            </a:r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165548" y="4523508"/>
            <a:ext cx="762000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165548" y="4746130"/>
            <a:ext cx="762000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165548" y="4980708"/>
            <a:ext cx="762000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009219" y="4523508"/>
            <a:ext cx="82332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7" idx="1"/>
          </p:cNvCxnSpPr>
          <p:nvPr/>
        </p:nvCxnSpPr>
        <p:spPr>
          <a:xfrm>
            <a:off x="5060450" y="4726131"/>
            <a:ext cx="77686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09219" y="4980708"/>
            <a:ext cx="82332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Multidocument 15"/>
          <p:cNvSpPr/>
          <p:nvPr/>
        </p:nvSpPr>
        <p:spPr>
          <a:xfrm flipH="1">
            <a:off x="7280348" y="4395354"/>
            <a:ext cx="1081673" cy="914400"/>
          </a:xfrm>
          <a:prstGeom prst="flowChartMultidocumen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Interface Table</a:t>
            </a:r>
            <a:endParaRPr lang="en-US" sz="2000" b="1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7646476" y="5777114"/>
            <a:ext cx="354524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7661350" y="6224154"/>
            <a:ext cx="568250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8229600" y="5309754"/>
            <a:ext cx="0" cy="91440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8001000" y="5309754"/>
            <a:ext cx="0" cy="471054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7661350" y="6019366"/>
            <a:ext cx="450700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8112050" y="5309754"/>
            <a:ext cx="0" cy="70961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457200" y="2209800"/>
            <a:ext cx="82296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0000"/>
              </a:buClr>
              <a:buNone/>
            </a:pPr>
            <a:endParaRPr lang="en-US" sz="2000" dirty="0" smtClean="0">
              <a:solidFill>
                <a:srgbClr val="FF0000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6914219" y="4523508"/>
            <a:ext cx="36612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914219" y="4726131"/>
            <a:ext cx="36612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6914219" y="4980708"/>
            <a:ext cx="366129" cy="0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"/>
          <p:cNvSpPr txBox="1">
            <a:spLocks/>
          </p:cNvSpPr>
          <p:nvPr/>
        </p:nvSpPr>
        <p:spPr>
          <a:xfrm>
            <a:off x="2594752" y="2709987"/>
            <a:ext cx="3614845" cy="3869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FF0000"/>
              </a:buClr>
              <a:buNone/>
            </a:pPr>
            <a:r>
              <a:rPr lang="th-TH" sz="20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การนำข้อมูลจากระบบอื่นเข้ามาในระบบ </a:t>
            </a:r>
            <a:r>
              <a:rPr lang="en-US" sz="2000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ERP</a:t>
            </a:r>
            <a:endParaRPr lang="th-TH" sz="2000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8568552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Import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files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โครงสร้าง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Path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ไฟล์ที่ถูกนำเข้าจะเก็บไว้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./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interface/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moduleName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/in/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ไฟล์ที่ได้นำเข้าระบบเสร็จสิ้นแล้วจะย้ายไปเก็บไว้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./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interface/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moduleName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/in/archived/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ชื่อและนามสกุลไฟล์ที่รองรับ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ใช้เฉพาะตัวเลขและ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ตัวอักษร</a:t>
            </a:r>
            <a:endParaRPr lang="th-TH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รองรับเฉพาะไฟล์ดังต่อไปนี้:</a:t>
            </a:r>
          </a:p>
          <a:p>
            <a:pPr lvl="2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เอกสาร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(.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txt, .csv Etc.)</a:t>
            </a:r>
          </a:p>
          <a:p>
            <a:pPr lvl="2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ไฟล์บีบ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อัด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(.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zip, .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rar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, .tar Etc.)</a:t>
            </a:r>
          </a:p>
          <a:p>
            <a:pPr lvl="1"/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>
            <a:normAutofit/>
          </a:bodyPr>
          <a:lstStyle/>
          <a:p>
            <a:pPr algn="l"/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9. การนำเข้าและส่งออก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5173710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Import files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ในกรณีที่มีการนำเข้า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file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ซ้ำกัน</a:t>
            </a:r>
          </a:p>
          <a:p>
            <a:pPr lvl="2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ระบบจะทำการเปลี่ยนนามสกุลไฟล์ที่ซ้ำเป็น .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rej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lvl="2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เก็บไฟล์ซ้ำไว้ที่ ./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interface/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moduleName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/in/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>
            <a:normAutofit/>
          </a:bodyPr>
          <a:lstStyle/>
          <a:p>
            <a:pPr algn="l"/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9. การนำเข้าและส่งออก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4577353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Export Excel, CSV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ตาม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Format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กำหนด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: Export file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4" name="Flowchart: Magnetic Disk 3"/>
          <p:cNvSpPr/>
          <p:nvPr/>
        </p:nvSpPr>
        <p:spPr>
          <a:xfrm>
            <a:off x="873052" y="3562350"/>
            <a:ext cx="2438400" cy="2971800"/>
          </a:xfrm>
          <a:prstGeom prst="flowChartMagneticDisk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ERP</a:t>
            </a: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endParaRPr lang="en-US" sz="20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Flowchart: Multidocument 4"/>
          <p:cNvSpPr/>
          <p:nvPr/>
        </p:nvSpPr>
        <p:spPr>
          <a:xfrm flipH="1">
            <a:off x="919322" y="4886434"/>
            <a:ext cx="1081673" cy="773956"/>
          </a:xfrm>
          <a:prstGeom prst="flowChartMultidocumen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Table</a:t>
            </a:r>
            <a:endParaRPr lang="en-US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2320852" y="4857750"/>
            <a:ext cx="914400" cy="838200"/>
          </a:xfrm>
          <a:prstGeom prst="flowChartAlternateProcess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Stored procedure</a:t>
            </a:r>
            <a:endParaRPr lang="en-US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000995" y="5050790"/>
            <a:ext cx="319857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5" idx="1"/>
          </p:cNvCxnSpPr>
          <p:nvPr/>
        </p:nvCxnSpPr>
        <p:spPr>
          <a:xfrm>
            <a:off x="2000995" y="5273412"/>
            <a:ext cx="319857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000995" y="5507990"/>
            <a:ext cx="319857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Multidocument 9"/>
          <p:cNvSpPr/>
          <p:nvPr/>
        </p:nvSpPr>
        <p:spPr>
          <a:xfrm flipH="1">
            <a:off x="3997250" y="4933950"/>
            <a:ext cx="1081673" cy="914400"/>
          </a:xfrm>
          <a:prstGeom prst="flowChartMultidocumen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5749852" y="3600450"/>
            <a:ext cx="2632148" cy="28956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Other system</a:t>
            </a:r>
            <a:endParaRPr lang="en-US" sz="28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235252" y="5086350"/>
            <a:ext cx="762000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235252" y="5308972"/>
            <a:ext cx="762000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235252" y="5543550"/>
            <a:ext cx="762000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078923" y="5086350"/>
            <a:ext cx="670929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078923" y="5308972"/>
            <a:ext cx="670929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5078923" y="5543550"/>
            <a:ext cx="670929" cy="0"/>
          </a:xfrm>
          <a:prstGeom prst="straightConnector1">
            <a:avLst/>
          </a:prstGeom>
          <a:ln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/>
          <p:cNvSpPr txBox="1">
            <a:spLocks/>
          </p:cNvSpPr>
          <p:nvPr/>
        </p:nvSpPr>
        <p:spPr>
          <a:xfrm>
            <a:off x="415852" y="2733411"/>
            <a:ext cx="7966148" cy="746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rgbClr val="FF0000"/>
              </a:buClr>
              <a:buNone/>
            </a:pP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การส่งข้อมูลจากระบบ </a:t>
            </a:r>
            <a:r>
              <a:rPr lang="en-US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ERP </a:t>
            </a:r>
            <a:r>
              <a:rPr lang="th-TH" sz="24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ไปให้ระบบอื่น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>
            <a:normAutofit/>
          </a:bodyPr>
          <a:lstStyle/>
          <a:p>
            <a:pPr algn="l"/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9. การนำเข้าและส่งออก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7383331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Export files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โครงสร้า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Path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ไฟล์ที่เจรียมส่งออกจะเก็บไว้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./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interface/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moduleName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/out/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ไฟล์ที่ได้ส่งออกเสร็จสิ้นแล้วจะย้ายไปเก็บไว้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ที่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./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interface/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moduleName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/out/archived/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ชื่อและนามสกุลไฟล์ที่รองรับ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ใช้เฉพาะตัวเลขและตัวอักษร.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รองรับเฉพาะไฟล์ดังต่อไปนี้: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ไฟล์เอกสาร(.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txt, .csv Etc.)</a:t>
            </a:r>
          </a:p>
          <a:p>
            <a:pPr lvl="1"/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ไฟล์บีบอัด(.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zip, .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rar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, .tar Etc.)</a:t>
            </a:r>
          </a:p>
          <a:p>
            <a:pPr lvl="1"/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>
            <a:normAutofit/>
          </a:bodyPr>
          <a:lstStyle/>
          <a:p>
            <a:pPr algn="l"/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9. การนำเข้าและส่งออก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4265535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Path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และ ชื่อของ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Log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file 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เก็บ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ไว้ที่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path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Project/logs/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app.log.yyyy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-MM-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dd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u="sng" dirty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</a:p>
          <a:p>
            <a:pPr marL="0" indent="0">
              <a:buNone/>
            </a:pP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root\</a:t>
            </a:r>
            <a:r>
              <a:rPr lang="en-US" b="1" dirty="0" err="1" smtClean="0">
                <a:latin typeface="AngsanaUPC" panose="02020603050405020304" pitchFamily="18" charset="-34"/>
                <a:cs typeface="AngsanaUPC" panose="02020603050405020304" pitchFamily="18" charset="-34"/>
              </a:rPr>
              <a:t>ERP.Web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\logs\app.log.2015-05-13</a:t>
            </a:r>
          </a:p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Log file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ในระบบจะแบ่งเป็น 3 ระดับ คือ</a:t>
            </a:r>
          </a:p>
          <a:p>
            <a:pPr lvl="1"/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INFO –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ใช้บอกข้อมูลพื้นฐาน เช่น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User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กำลังเข้าใช้งานที่หน้าไหนอยู่</a:t>
            </a:r>
          </a:p>
          <a:p>
            <a:pPr lvl="1"/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DEBUG –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ใช้ในตอนที่ต้องการ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DEBUG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เพื่อดูค่าต่างๆ ที่ต้องการ </a:t>
            </a:r>
          </a:p>
          <a:p>
            <a:pPr lvl="1"/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ERROR –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ใช้ในการแจ้งกรณีที่เกิด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ERROR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เช่น เกิดข้อผิดพลาดในการบันทึกข้อมูล</a:t>
            </a:r>
          </a:p>
          <a:p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Template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ใน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การเขียน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Log file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yyyy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-MM-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dd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HH:mm:ss,SSS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LogType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[THREAD] – Message</a:t>
            </a:r>
          </a:p>
          <a:p>
            <a:pPr marL="0" indent="0">
              <a:buNone/>
            </a:pPr>
            <a:r>
              <a:rPr lang="th-TH" u="sng" dirty="0">
                <a:latin typeface="AngsanaUPC" panose="02020603050405020304" pitchFamily="18" charset="-34"/>
                <a:cs typeface="AngsanaUPC" panose="02020603050405020304" pitchFamily="18" charset="-34"/>
              </a:rPr>
              <a:t>ตัวอย่าง</a:t>
            </a: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2015-05-29 15:10:38,578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ERROR [main] – Can not find user data.</a:t>
            </a: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</p:spPr>
        <p:txBody>
          <a:bodyPr>
            <a:normAutofit/>
          </a:bodyPr>
          <a:lstStyle/>
          <a:p>
            <a:pPr algn="l"/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9. การนำเข้าและส่งออก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Interface File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6" name="Picture 5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588" y="62632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กรณีมีการ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Update Database Structure </a:t>
            </a: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ก่อนทำการ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Update Database Structure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B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ackup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ข้อมูลไว้ก่อนเพื่อกันการผิดพลาด</a:t>
            </a: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2.ทำ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cript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สำหรับการ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Alter Database</a:t>
            </a: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ต้องมี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การส่งเมล์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เพื่อแจ้งให้ทุกคนในทีมทราบว่ามีการแก้ไขอะไรไปบ้างในการอัพเดท</a:t>
            </a: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4. จะ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เก็บ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Patch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ไว้ที่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ERP.Web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db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จะแยกประเภท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ดังนี้</a:t>
            </a: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01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structure 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พวกโครงสร้าง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02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จะ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ata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พวก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Update , Insert , Delete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03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package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 พวก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pl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sql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ทั้งหลาย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เลข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พวกนี้จะเป็น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R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unning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N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umber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มี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3 หลัก ชื่อตามไฟล์นั้นๆ</a:t>
            </a:r>
          </a:p>
          <a:p>
            <a:pPr marL="0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848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กรณีมีการ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Update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ข้อมูลใน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Database </a:t>
            </a:r>
            <a:endParaRPr lang="th-TH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ก่อนทำการ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Update Database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B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ackup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ข้อมูลไว้ก่อนเพื่อกันการผิดพลาด</a:t>
            </a:r>
          </a:p>
          <a:p>
            <a:pPr marL="0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ทำ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cript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สำหรับการ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Update Data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ถ้าเกิดข้อผิดพลาดให้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Rollback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ข้อมูล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กลับ</a:t>
            </a:r>
          </a:p>
          <a:p>
            <a:pPr marL="0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ต้อง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มี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ส่ง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เมล์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เพื่อแจ้งให้ทุกคนในทีมทราบว่ามีการแก้ไขอะไรไปบ้างในการ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อัพเดท</a:t>
            </a:r>
          </a:p>
          <a:p>
            <a:pPr marL="0" indent="0">
              <a:buNone/>
            </a:pP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4.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เก็บ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Patch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ไว้ที่ </a:t>
            </a:r>
            <a:r>
              <a:rPr lang="en-US" sz="22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ERP.Web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/</a:t>
            </a:r>
            <a:r>
              <a:rPr lang="en-US" sz="22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db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จะแยกประเภทดังนี้</a:t>
            </a:r>
          </a:p>
          <a:p>
            <a:pPr marL="457200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	 01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structure </a:t>
            </a:r>
          </a:p>
          <a:p>
            <a:pPr marL="457200" lvl="1" indent="0">
              <a:buNone/>
            </a:pP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	 02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จะเป็นพวก 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data</a:t>
            </a:r>
          </a:p>
          <a:p>
            <a:pPr marL="457200" lvl="1" indent="0">
              <a:buNone/>
            </a:pP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	 03 package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 พวก </a:t>
            </a:r>
            <a:r>
              <a:rPr lang="en-US" sz="22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pl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200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sql</a:t>
            </a:r>
            <a:r>
              <a:rPr lang="en-US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ทั้งหลาย</a:t>
            </a:r>
          </a:p>
          <a:p>
            <a:pPr marL="457200" lvl="1" indent="0">
              <a:buNone/>
            </a:pP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	เลขพวกนี้จะเป็น </a:t>
            </a:r>
            <a:r>
              <a:rPr lang="en-US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Running Number </a:t>
            </a:r>
            <a:r>
              <a:rPr lang="th-TH" sz="22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จะ</a:t>
            </a:r>
            <a:r>
              <a:rPr lang="th-TH" sz="2200" dirty="0">
                <a:latin typeface="AngsanaUPC" panose="02020603050405020304" pitchFamily="18" charset="-34"/>
                <a:cs typeface="AngsanaUPC" panose="02020603050405020304" pitchFamily="18" charset="-34"/>
              </a:rPr>
              <a:t>มี 3 หลัก ชื่อตามไฟล์นั้นๆ</a:t>
            </a:r>
          </a:p>
          <a:p>
            <a:pPr marL="457200" lvl="1" indent="0">
              <a:buNone/>
            </a:pPr>
            <a:endParaRPr lang="en-US" sz="22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2999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Update </a:t>
            </a:r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Program</a:t>
            </a:r>
            <a:endParaRPr lang="th-TH" b="1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1.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ทำการ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อัพเดท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Code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มาแล้ว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Ant build, build Project, commit SVN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แล้วเริ่มทำการ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Deploy</a:t>
            </a: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2.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ถ้าเกิดการผิดพลาด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ก็สามารถทำการ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Revert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 กลับมาได้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ต้อง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มีการส่งเมล์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เพื่อแจ้งให้ทุกคนในทีมทราบว่ามีการแก้ไขอะไรไปบ้างในการ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อัพเดท</a:t>
            </a:r>
          </a:p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Deploy</a:t>
            </a: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1.นำไฟล์ที่จะทำการ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มาทำการ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pack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เป็น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war file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ไว้</a:t>
            </a:r>
          </a:p>
          <a:p>
            <a:pPr marL="0" indent="0">
              <a:buNone/>
            </a:pP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2.เข้าไปที่เครื่อง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server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ที่ต้องการ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แล้วเข้าไปใน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patch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ที่เราจะนำ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war file </a:t>
            </a: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  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ที่ทำไว้ไปวางที่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tomcat-app/</a:t>
            </a:r>
            <a:r>
              <a:rPr lang="en-US" dirty="0" err="1">
                <a:latin typeface="AngsanaUPC" panose="02020603050405020304" pitchFamily="18" charset="-34"/>
                <a:cs typeface="AngsanaUPC" panose="02020603050405020304" pitchFamily="18" charset="-34"/>
              </a:rPr>
              <a:t>webapps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3.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หลังจากนำ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war file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ไปวางเสร็จแล้ว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ให้ทำ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start server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ของโปรแกรมที่อยู่ใน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เครื่อง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server </a:t>
            </a: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  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ที่ต้องการ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289614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การประกาศแจ้ง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ทีมเมื่อมี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</a:p>
          <a:p>
            <a:pPr marL="0" indent="0">
              <a:buNone/>
            </a:pP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	การ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จะต้องมีการประกาศแจ้งก่อนและหลัง 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เพื่อให้ทุกคนใน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ทีมทราบ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ว่าจะไม่สามารถใช้งานเชื่อมต่อ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กับ</a:t>
            </a:r>
            <a:r>
              <a:rPr lang="en-US" dirty="0">
                <a:latin typeface="AngsanaUPC" panose="02020603050405020304" pitchFamily="18" charset="-34"/>
                <a:cs typeface="AngsanaUPC" panose="02020603050405020304" pitchFamily="18" charset="-34"/>
              </a:rPr>
              <a:t> server 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ได้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สักพักหนึ่ง แล้ว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เมื่อ </a:t>
            </a:r>
            <a:r>
              <a:rPr lang="en-US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ก็ต้องแจ้งให้ทีมทราบ โดย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การส่งเมล์</a:t>
            </a:r>
            <a:r>
              <a:rPr lang="th-TH" dirty="0">
                <a:latin typeface="AngsanaUPC" panose="02020603050405020304" pitchFamily="18" charset="-34"/>
                <a:cs typeface="AngsanaUPC" panose="02020603050405020304" pitchFamily="18" charset="-34"/>
              </a:rPr>
              <a:t>ให้ทุกคนในทีมทราบก่อนและหลังการ</a:t>
            </a:r>
            <a:r>
              <a:rPr lang="th-TH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ทำ</a:t>
            </a:r>
          </a:p>
          <a:p>
            <a:pPr marL="0" indent="0">
              <a:buNone/>
            </a:pPr>
            <a:r>
              <a:rPr lang="th-TH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เมล์แจ้งก่อนการ </a:t>
            </a:r>
            <a:r>
              <a:rPr lang="en-US" u="sng" dirty="0">
                <a:latin typeface="AngsanaUPC" panose="02020603050405020304" pitchFamily="18" charset="-34"/>
                <a:cs typeface="AngsanaUPC" panose="02020603050405020304" pitchFamily="18" charset="-34"/>
              </a:rPr>
              <a:t>Deploy</a:t>
            </a:r>
          </a:p>
          <a:p>
            <a:pPr marL="0" indent="0">
              <a:buNone/>
            </a:pPr>
            <a:endParaRPr lang="th-TH" dirty="0" smtClean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18955"/>
          <a:stretch/>
        </p:blipFill>
        <p:spPr>
          <a:xfrm>
            <a:off x="1576979" y="4146822"/>
            <a:ext cx="6490695" cy="260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9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10</a:t>
            </a:r>
            <a:r>
              <a:rPr lang="th-TH" b="1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.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 </a:t>
            </a:r>
            <a:r>
              <a:rPr lang="en-US" b="1" dirty="0">
                <a:latin typeface="AngsanaUPC" panose="02020603050405020304" pitchFamily="18" charset="-34"/>
                <a:cs typeface="AngsanaUPC" panose="02020603050405020304" pitchFamily="18" charset="-34"/>
              </a:rPr>
              <a:t>Deploy </a:t>
            </a:r>
            <a:r>
              <a:rPr lang="th-TH" b="1" dirty="0">
                <a:latin typeface="AngsanaUPC" panose="02020603050405020304" pitchFamily="18" charset="-34"/>
                <a:cs typeface="AngsanaUPC" panose="02020603050405020304" pitchFamily="18" charset="-34"/>
              </a:rPr>
              <a:t>โปรแกรม</a:t>
            </a:r>
            <a:endParaRPr lang="en-US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b="1" u="sng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เมล์แจ้งหลังการ </a:t>
            </a:r>
            <a:r>
              <a:rPr lang="en-US" b="1" u="sng" dirty="0">
                <a:latin typeface="AngsanaUPC" panose="02020603050405020304" pitchFamily="18" charset="-34"/>
                <a:cs typeface="AngsanaUPC" panose="02020603050405020304" pitchFamily="18" charset="-34"/>
              </a:rPr>
              <a:t>Deploy</a:t>
            </a:r>
          </a:p>
          <a:p>
            <a:pPr marL="0" indent="0">
              <a:buNone/>
            </a:pPr>
            <a:endParaRPr lang="en-US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" y="2624504"/>
            <a:ext cx="7174137" cy="4081096"/>
          </a:xfrm>
          <a:prstGeom prst="rect">
            <a:avLst/>
          </a:prstGeom>
        </p:spPr>
      </p:pic>
      <p:pic>
        <p:nvPicPr>
          <p:cNvPr id="5" name="Picture 4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588" y="6250500"/>
            <a:ext cx="618750" cy="60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 smtClean="0">
                <a:latin typeface="AngsanaUPC" panose="02020603050405020304" pitchFamily="18" charset="-34"/>
                <a:cs typeface="AngsanaUPC" panose="02020603050405020304" pitchFamily="18" charset="-34"/>
              </a:rPr>
              <a:t>THANK YOU</a:t>
            </a:r>
            <a:endParaRPr lang="en-US" sz="96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391" y="3636537"/>
            <a:ext cx="2077780" cy="135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3098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1877</TotalTime>
  <Words>4679</Words>
  <Application>Microsoft Office PowerPoint</Application>
  <PresentationFormat>On-screen Show (4:3)</PresentationFormat>
  <Paragraphs>716</Paragraphs>
  <Slides>118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118</vt:i4>
      </vt:variant>
    </vt:vector>
  </HeadingPairs>
  <TitlesOfParts>
    <vt:vector size="126" baseType="lpstr">
      <vt:lpstr>Angsana New</vt:lpstr>
      <vt:lpstr>AngsanaUPC</vt:lpstr>
      <vt:lpstr>Arial</vt:lpstr>
      <vt:lpstr>Calibri</vt:lpstr>
      <vt:lpstr>Century Gothic</vt:lpstr>
      <vt:lpstr>Cordia New</vt:lpstr>
      <vt:lpstr>Tahoma</vt:lpstr>
      <vt:lpstr>Vapor Trail</vt:lpstr>
      <vt:lpstr>ERP Standard  &amp; Manual</vt:lpstr>
      <vt:lpstr>AGENDA</vt:lpstr>
      <vt:lpstr>1.การตั้งชื่อไฟล์ที่ใช้พัฒนาโปรแกรม</vt:lpstr>
      <vt:lpstr>1.การตั้งชื่อไฟล์ที่ใช้พัฒนาโปรแกรม</vt:lpstr>
      <vt:lpstr>1.การตั้งชื่อไฟล์ที่ใช้พัฒนาโปรแกรม</vt:lpstr>
      <vt:lpstr>1.การตั้งชื่อไฟล์ที่ใช้พัฒนาโปรแกรม</vt:lpstr>
      <vt:lpstr>1.การตั้งชื่อไฟล์ที่ใช้พัฒนาโปรแกรม</vt:lpstr>
      <vt:lpstr>1.การตั้งชื่อไฟล์ที่ใช้พัฒนาโปรแกรม</vt:lpstr>
      <vt:lpstr>2.การตั้งรหัสเมนู</vt:lpstr>
      <vt:lpstr>2.การตั้งรหัสเมนู</vt:lpstr>
      <vt:lpstr>2.การตั้งรหัสเมนู</vt:lpstr>
      <vt:lpstr>2.การตั้งรหัสเมนู</vt:lpstr>
      <vt:lpstr>2.การตั้งรหัสเมนู</vt:lpstr>
      <vt:lpstr>2.การตั้งรหัสเมนู</vt:lpstr>
      <vt:lpstr>3.การตั้งรหัส Object ต่างๆ</vt:lpstr>
      <vt:lpstr>3.การตั้งรหัส Object ต่างๆ</vt:lpstr>
      <vt:lpstr>3.การตั้งรหัส Object ต่างๆ</vt:lpstr>
      <vt:lpstr>3.การตั้งรหัส Object ต่างๆ</vt:lpstr>
      <vt:lpstr>4. Parameter Table</vt:lpstr>
      <vt:lpstr>4. Parameter Table</vt:lpstr>
      <vt:lpstr>4. Parameter Table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5.การพัฒนาโปรแกรมพื้นฐาน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6.การจัดทำหน้าจอค้นหา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7.การจัดทำหน้าจอบันทึก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8. การจัดทำรายงาน</vt:lpstr>
      <vt:lpstr>9. การนำเข้าและส่งออก Interface File</vt:lpstr>
      <vt:lpstr>9. การนำเข้าและส่งออก Interface File</vt:lpstr>
      <vt:lpstr>9. การนำเข้าและส่งออก Interface File</vt:lpstr>
      <vt:lpstr>9. การนำเข้าและส่งออก Interface File</vt:lpstr>
      <vt:lpstr>9. การนำเข้าและส่งออก Interface File</vt:lpstr>
      <vt:lpstr>9. การนำเข้าและส่งออก Interface File</vt:lpstr>
      <vt:lpstr>10. การ Deploy โปรแกรม</vt:lpstr>
      <vt:lpstr>10. การ Deploy โปรแกรม</vt:lpstr>
      <vt:lpstr>10. การ Deploy โปรแกรม</vt:lpstr>
      <vt:lpstr>10. การ Deploy โปรแกรม</vt:lpstr>
      <vt:lpstr>10. การ Deploy โปรแกรม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Standard &amp; Manual</dc:title>
  <dc:creator>CRNB-55-010</dc:creator>
  <cp:lastModifiedBy>CRNB-55-010</cp:lastModifiedBy>
  <cp:revision>129</cp:revision>
  <dcterms:created xsi:type="dcterms:W3CDTF">2015-05-28T06:06:59Z</dcterms:created>
  <dcterms:modified xsi:type="dcterms:W3CDTF">2015-06-23T09:57:59Z</dcterms:modified>
</cp:coreProperties>
</file>